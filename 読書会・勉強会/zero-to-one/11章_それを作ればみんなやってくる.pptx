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72800" cy="457200"/>
          </a:xfrm>
          <a:prstGeom prst="rect">
            <a:avLst/>
          </a:prstGeom>
          <a:noFill/>
        </p:spPr>
        <p:txBody>
          <a:bodyPr wrap="square">
            <a:spAutoFit/>
          </a:bodyPr>
          <a:lstStyle/>
          <a:p>
            <a:pPr algn="l"/>
            <a:r>
              <a:rPr sz="1600" b="0" i="0">
                <a:solidFill>
                  <a:srgbClr val="555555"/>
                </a:solidFill>
              </a:rPr>
              <a:t>Zero to One  第11章</a:t>
            </a:r>
          </a:p>
        </p:txBody>
      </p:sp>
      <p:sp>
        <p:nvSpPr>
          <p:cNvPr id="5" name="TextBox 4"/>
          <p:cNvSpPr txBox="1"/>
          <p:nvPr/>
        </p:nvSpPr>
        <p:spPr>
          <a:xfrm>
            <a:off x="640080" y="566928"/>
            <a:ext cx="10972800" cy="914400"/>
          </a:xfrm>
          <a:prstGeom prst="rect">
            <a:avLst/>
          </a:prstGeom>
          <a:noFill/>
        </p:spPr>
        <p:txBody>
          <a:bodyPr wrap="square">
            <a:spAutoFit/>
          </a:bodyPr>
          <a:lstStyle/>
          <a:p>
            <a:pPr algn="l"/>
            <a:r>
              <a:rPr sz="3600" b="1" i="0">
                <a:solidFill>
                  <a:srgbClr val="1A2E5C"/>
                </a:solidFill>
              </a:rPr>
              <a:t>それを作れば、みんなやってくる？</a:t>
            </a:r>
          </a:p>
        </p:txBody>
      </p:sp>
      <p:sp>
        <p:nvSpPr>
          <p:cNvPr id="6" name="Rectangle 5"/>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058400" cy="384048"/>
          </a:xfrm>
          <a:prstGeom prst="rect">
            <a:avLst/>
          </a:prstGeom>
          <a:noFill/>
        </p:spPr>
        <p:txBody>
          <a:bodyPr wrap="square">
            <a:spAutoFit/>
          </a:bodyPr>
          <a:lstStyle/>
          <a:p>
            <a:pPr algn="l"/>
            <a:r>
              <a:rPr sz="1400" b="1" i="0">
                <a:solidFill>
                  <a:srgbClr val="008B8B"/>
                </a:solidFill>
              </a:rPr>
              <a:t>この章が伝えること</a:t>
            </a:r>
          </a:p>
        </p:txBody>
      </p:sp>
      <p:sp>
        <p:nvSpPr>
          <p:cNvPr id="8" name="Rectangle 7"/>
          <p:cNvSpPr/>
          <p:nvPr/>
        </p:nvSpPr>
        <p:spPr>
          <a:xfrm>
            <a:off x="640080" y="1920240"/>
            <a:ext cx="10607040" cy="1188720"/>
          </a:xfrm>
          <a:prstGeom prst="rect">
            <a:avLst/>
          </a:prstGeom>
          <a:solidFill>
            <a:srgbClr val="E8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65960"/>
            <a:ext cx="10058400" cy="1097280"/>
          </a:xfrm>
          <a:prstGeom prst="rect">
            <a:avLst/>
          </a:prstGeom>
          <a:noFill/>
        </p:spPr>
        <p:txBody>
          <a:bodyPr wrap="square">
            <a:spAutoFit/>
          </a:bodyPr>
          <a:lstStyle/>
          <a:p>
            <a:pPr algn="l"/>
            <a:r>
              <a:rPr sz="1800" b="0" i="0">
                <a:solidFill>
                  <a:srgbClr val="1E1E1E"/>
                </a:solidFill>
              </a:rPr>
              <a:t>どれほど優れたプロダクトでも、売り方を設計しなければビジネスにならない。
販売はプロダクトの後工程ではなく、価値を現実に変えるための本質的な機能だ。</a:t>
            </a:r>
          </a:p>
        </p:txBody>
      </p:sp>
      <p:sp>
        <p:nvSpPr>
          <p:cNvPr id="10" name="TextBox 9"/>
          <p:cNvSpPr txBox="1"/>
          <p:nvPr/>
        </p:nvSpPr>
        <p:spPr>
          <a:xfrm>
            <a:off x="640080" y="3246120"/>
            <a:ext cx="10972800" cy="365760"/>
          </a:xfrm>
          <a:prstGeom prst="rect">
            <a:avLst/>
          </a:prstGeom>
          <a:noFill/>
        </p:spPr>
        <p:txBody>
          <a:bodyPr wrap="square">
            <a:spAutoFit/>
          </a:bodyPr>
          <a:lstStyle/>
          <a:p>
            <a:pPr algn="l"/>
            <a:r>
              <a:rPr sz="1400" b="1" i="0">
                <a:solidFill>
                  <a:srgbClr val="555555"/>
                </a:solidFill>
              </a:rPr>
              <a:t>この章で扱うテーマ</a:t>
            </a:r>
          </a:p>
        </p:txBody>
      </p:sp>
      <p:sp>
        <p:nvSpPr>
          <p:cNvPr id="11" name="Rectangle 10"/>
          <p:cNvSpPr/>
          <p:nvPr/>
        </p:nvSpPr>
        <p:spPr>
          <a:xfrm>
            <a:off x="594360" y="3611880"/>
            <a:ext cx="210312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3703320"/>
            <a:ext cx="1883663" cy="457200"/>
          </a:xfrm>
          <a:prstGeom prst="rect">
            <a:avLst/>
          </a:prstGeom>
          <a:noFill/>
        </p:spPr>
        <p:txBody>
          <a:bodyPr wrap="square">
            <a:spAutoFit/>
          </a:bodyPr>
          <a:lstStyle/>
          <a:p>
            <a:pPr algn="l"/>
            <a:r>
              <a:rPr sz="1500" b="1" i="0">
                <a:solidFill>
                  <a:srgbClr val="1A2E5C"/>
                </a:solidFill>
              </a:rPr>
              <a:t>おたく対営業</a:t>
            </a:r>
          </a:p>
        </p:txBody>
      </p:sp>
      <p:sp>
        <p:nvSpPr>
          <p:cNvPr id="13" name="TextBox 12"/>
          <p:cNvSpPr txBox="1"/>
          <p:nvPr/>
        </p:nvSpPr>
        <p:spPr>
          <a:xfrm>
            <a:off x="704088" y="4206240"/>
            <a:ext cx="1883663" cy="777240"/>
          </a:xfrm>
          <a:prstGeom prst="rect">
            <a:avLst/>
          </a:prstGeom>
          <a:noFill/>
        </p:spPr>
        <p:txBody>
          <a:bodyPr wrap="square">
            <a:spAutoFit/>
          </a:bodyPr>
          <a:lstStyle/>
          <a:p>
            <a:pPr algn="l"/>
            <a:r>
              <a:rPr sz="1300" b="0" i="0">
                <a:solidFill>
                  <a:srgbClr val="555555"/>
                </a:solidFill>
              </a:rPr>
              <a:t>エンジニアが
営業を軽んじる理由</a:t>
            </a:r>
          </a:p>
        </p:txBody>
      </p:sp>
      <p:sp>
        <p:nvSpPr>
          <p:cNvPr id="14" name="Rectangle 13"/>
          <p:cNvSpPr/>
          <p:nvPr/>
        </p:nvSpPr>
        <p:spPr>
          <a:xfrm>
            <a:off x="2770632" y="3611880"/>
            <a:ext cx="210312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80360" y="3703320"/>
            <a:ext cx="1883663" cy="457200"/>
          </a:xfrm>
          <a:prstGeom prst="rect">
            <a:avLst/>
          </a:prstGeom>
          <a:noFill/>
        </p:spPr>
        <p:txBody>
          <a:bodyPr wrap="square">
            <a:spAutoFit/>
          </a:bodyPr>
          <a:lstStyle/>
          <a:p>
            <a:pPr algn="l"/>
            <a:r>
              <a:rPr sz="1500" b="1" i="0">
                <a:solidFill>
                  <a:srgbClr val="1A2E5C"/>
                </a:solidFill>
              </a:rPr>
              <a:t>一流の営業はそれとわからない</a:t>
            </a:r>
          </a:p>
        </p:txBody>
      </p:sp>
      <p:sp>
        <p:nvSpPr>
          <p:cNvPr id="16" name="TextBox 15"/>
          <p:cNvSpPr txBox="1"/>
          <p:nvPr/>
        </p:nvSpPr>
        <p:spPr>
          <a:xfrm>
            <a:off x="2880360" y="4206240"/>
            <a:ext cx="1883663" cy="777240"/>
          </a:xfrm>
          <a:prstGeom prst="rect">
            <a:avLst/>
          </a:prstGeom>
          <a:noFill/>
        </p:spPr>
        <p:txBody>
          <a:bodyPr wrap="square">
            <a:spAutoFit/>
          </a:bodyPr>
          <a:lstStyle/>
          <a:p>
            <a:pPr algn="l"/>
            <a:r>
              <a:rPr sz="1300" b="0" i="0">
                <a:solidFill>
                  <a:srgbClr val="555555"/>
                </a:solidFill>
              </a:rPr>
              <a:t>肩書きを変えた
売り込みの本質</a:t>
            </a:r>
          </a:p>
        </p:txBody>
      </p:sp>
      <p:sp>
        <p:nvSpPr>
          <p:cNvPr id="17" name="Rectangle 16"/>
          <p:cNvSpPr/>
          <p:nvPr/>
        </p:nvSpPr>
        <p:spPr>
          <a:xfrm>
            <a:off x="4946904" y="3611880"/>
            <a:ext cx="210312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56632" y="3703320"/>
            <a:ext cx="1883663" cy="457200"/>
          </a:xfrm>
          <a:prstGeom prst="rect">
            <a:avLst/>
          </a:prstGeom>
          <a:noFill/>
        </p:spPr>
        <p:txBody>
          <a:bodyPr wrap="square">
            <a:spAutoFit/>
          </a:bodyPr>
          <a:lstStyle/>
          <a:p>
            <a:pPr algn="l"/>
            <a:r>
              <a:rPr sz="1500" b="1" i="0">
                <a:solidFill>
                  <a:srgbClr val="1A2E5C"/>
                </a:solidFill>
              </a:rPr>
              <a:t>販売手段の選び方</a:t>
            </a:r>
          </a:p>
        </p:txBody>
      </p:sp>
      <p:sp>
        <p:nvSpPr>
          <p:cNvPr id="19" name="TextBox 18"/>
          <p:cNvSpPr txBox="1"/>
          <p:nvPr/>
        </p:nvSpPr>
        <p:spPr>
          <a:xfrm>
            <a:off x="5056632" y="4206240"/>
            <a:ext cx="1883663" cy="777240"/>
          </a:xfrm>
          <a:prstGeom prst="rect">
            <a:avLst/>
          </a:prstGeom>
          <a:noFill/>
        </p:spPr>
        <p:txBody>
          <a:bodyPr wrap="square">
            <a:spAutoFit/>
          </a:bodyPr>
          <a:lstStyle/>
          <a:p>
            <a:pPr algn="l"/>
            <a:r>
              <a:rPr sz="1300" b="0" i="0">
                <a:solidFill>
                  <a:srgbClr val="555555"/>
                </a:solidFill>
              </a:rPr>
              <a:t>CLV・CACで決まる
最適チャネル</a:t>
            </a:r>
          </a:p>
        </p:txBody>
      </p:sp>
      <p:sp>
        <p:nvSpPr>
          <p:cNvPr id="20" name="Rectangle 19"/>
          <p:cNvSpPr/>
          <p:nvPr/>
        </p:nvSpPr>
        <p:spPr>
          <a:xfrm>
            <a:off x="7123176" y="3611880"/>
            <a:ext cx="210312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32904" y="3703320"/>
            <a:ext cx="1883663" cy="457200"/>
          </a:xfrm>
          <a:prstGeom prst="rect">
            <a:avLst/>
          </a:prstGeom>
          <a:noFill/>
        </p:spPr>
        <p:txBody>
          <a:bodyPr wrap="square">
            <a:spAutoFit/>
          </a:bodyPr>
          <a:lstStyle/>
          <a:p>
            <a:pPr algn="l"/>
            <a:r>
              <a:rPr sz="1500" b="1" i="0">
                <a:solidFill>
                  <a:srgbClr val="1A2E5C"/>
                </a:solidFill>
              </a:rPr>
              <a:t>コンプレックス・セールス</a:t>
            </a:r>
          </a:p>
        </p:txBody>
      </p:sp>
      <p:sp>
        <p:nvSpPr>
          <p:cNvPr id="22" name="TextBox 21"/>
          <p:cNvSpPr txBox="1"/>
          <p:nvPr/>
        </p:nvSpPr>
        <p:spPr>
          <a:xfrm>
            <a:off x="7232904" y="4206240"/>
            <a:ext cx="1883663" cy="777240"/>
          </a:xfrm>
          <a:prstGeom prst="rect">
            <a:avLst/>
          </a:prstGeom>
          <a:noFill/>
        </p:spPr>
        <p:txBody>
          <a:bodyPr wrap="square">
            <a:spAutoFit/>
          </a:bodyPr>
          <a:lstStyle/>
          <a:p>
            <a:pPr algn="l"/>
            <a:r>
              <a:rPr sz="1300" b="0" i="0">
                <a:solidFill>
                  <a:srgbClr val="555555"/>
                </a:solidFill>
              </a:rPr>
              <a:t>SpaceX・Palantirの
CEO直売モデル</a:t>
            </a:r>
          </a:p>
        </p:txBody>
      </p:sp>
      <p:sp>
        <p:nvSpPr>
          <p:cNvPr id="23" name="Rectangle 22"/>
          <p:cNvSpPr/>
          <p:nvPr/>
        </p:nvSpPr>
        <p:spPr>
          <a:xfrm>
            <a:off x="9299448" y="3611880"/>
            <a:ext cx="210312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9176" y="3703320"/>
            <a:ext cx="1883663" cy="457200"/>
          </a:xfrm>
          <a:prstGeom prst="rect">
            <a:avLst/>
          </a:prstGeom>
          <a:noFill/>
        </p:spPr>
        <p:txBody>
          <a:bodyPr wrap="square">
            <a:spAutoFit/>
          </a:bodyPr>
          <a:lstStyle/>
          <a:p>
            <a:pPr algn="l"/>
            <a:r>
              <a:rPr sz="1500" b="1" i="0">
                <a:solidFill>
                  <a:srgbClr val="1A2E5C"/>
                </a:solidFill>
              </a:rPr>
              <a:t>バイラル・マーケティング</a:t>
            </a:r>
          </a:p>
        </p:txBody>
      </p:sp>
      <p:sp>
        <p:nvSpPr>
          <p:cNvPr id="25" name="TextBox 24"/>
          <p:cNvSpPr txBox="1"/>
          <p:nvPr/>
        </p:nvSpPr>
        <p:spPr>
          <a:xfrm>
            <a:off x="9409176" y="4206240"/>
            <a:ext cx="1883663" cy="777240"/>
          </a:xfrm>
          <a:prstGeom prst="rect">
            <a:avLst/>
          </a:prstGeom>
          <a:noFill/>
        </p:spPr>
        <p:txBody>
          <a:bodyPr wrap="square">
            <a:spAutoFit/>
          </a:bodyPr>
          <a:lstStyle/>
          <a:p>
            <a:pPr algn="l"/>
            <a:r>
              <a:rPr sz="1300" b="0" i="0">
                <a:solidFill>
                  <a:srgbClr val="555555"/>
                </a:solidFill>
              </a:rPr>
              <a:t>eBayパワーセラーから
始めたPayPal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おたく対営業</a:t>
            </a:r>
          </a:p>
        </p:txBody>
      </p:sp>
      <p:sp>
        <p:nvSpPr>
          <p:cNvPr id="5" name="TextBox 4"/>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広告業界150億ドルが証明すること</a:t>
            </a:r>
          </a:p>
        </p:txBody>
      </p:sp>
      <p:sp>
        <p:nvSpPr>
          <p:cNvPr id="6" name="Rectangle 5"/>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64208"/>
            <a:ext cx="10515600" cy="749808"/>
          </a:xfrm>
          <a:prstGeom prst="rect">
            <a:avLst/>
          </a:prstGeom>
          <a:noFill/>
        </p:spPr>
        <p:txBody>
          <a:bodyPr wrap="square">
            <a:spAutoFit/>
          </a:bodyPr>
          <a:lstStyle/>
          <a:p>
            <a:pPr algn="l"/>
            <a:r>
              <a:rPr sz="1800" b="0" i="0">
                <a:solidFill>
                  <a:srgbClr val="1E1E1E"/>
                </a:solidFill>
              </a:rPr>
              <a:t>米国の広告業界は年間1,500億ドル・60万人以上を雇用し、セールス業界は4,500億ドルに上る。それでもシリコンバレーのエンジニアは「営業は邪魔な存在」と見なしがちだ。</a:t>
            </a:r>
          </a:p>
        </p:txBody>
      </p:sp>
      <p:sp>
        <p:nvSpPr>
          <p:cNvPr id="8" name="TextBox 7"/>
          <p:cNvSpPr txBox="1"/>
          <p:nvPr/>
        </p:nvSpPr>
        <p:spPr>
          <a:xfrm>
            <a:off x="640080" y="2487168"/>
            <a:ext cx="10972800" cy="384048"/>
          </a:xfrm>
          <a:prstGeom prst="rect">
            <a:avLst/>
          </a:prstGeom>
          <a:noFill/>
        </p:spPr>
        <p:txBody>
          <a:bodyPr wrap="square">
            <a:spAutoFit/>
          </a:bodyPr>
          <a:lstStyle/>
          <a:p>
            <a:pPr algn="l"/>
            <a:r>
              <a:rPr sz="1400" b="1" i="0">
                <a:solidFill>
                  <a:srgbClr val="555555"/>
                </a:solidFill>
              </a:rPr>
              <a:t>なぜエンジニアは営業を軽んじるのか</a:t>
            </a:r>
          </a:p>
        </p:txBody>
      </p:sp>
      <p:sp>
        <p:nvSpPr>
          <p:cNvPr id="9" name="TextBox 8"/>
          <p:cNvSpPr txBox="1"/>
          <p:nvPr/>
        </p:nvSpPr>
        <p:spPr>
          <a:xfrm>
            <a:off x="640080" y="2907792"/>
            <a:ext cx="10515600" cy="502920"/>
          </a:xfrm>
          <a:prstGeom prst="rect">
            <a:avLst/>
          </a:prstGeom>
          <a:noFill/>
        </p:spPr>
        <p:txBody>
          <a:bodyPr wrap="square">
            <a:spAutoFit/>
          </a:bodyPr>
          <a:lstStyle/>
          <a:p>
            <a:pPr algn="l"/>
            <a:r>
              <a:rPr sz="1800" b="0" i="0">
                <a:solidFill>
                  <a:srgbClr val="1E1E1E"/>
                </a:solidFill>
              </a:rPr>
              <a:t>• 技術は「成功か失敗か」で評価されるが、営業は「見え方を変える仕事」に見える</a:t>
            </a:r>
          </a:p>
        </p:txBody>
      </p:sp>
      <p:sp>
        <p:nvSpPr>
          <p:cNvPr id="10" name="TextBox 9"/>
          <p:cNvSpPr txBox="1"/>
          <p:nvPr/>
        </p:nvSpPr>
        <p:spPr>
          <a:xfrm>
            <a:off x="640080" y="3364992"/>
            <a:ext cx="10515600" cy="502920"/>
          </a:xfrm>
          <a:prstGeom prst="rect">
            <a:avLst/>
          </a:prstGeom>
          <a:noFill/>
        </p:spPr>
        <p:txBody>
          <a:bodyPr wrap="square">
            <a:spAutoFit/>
          </a:bodyPr>
          <a:lstStyle/>
          <a:p>
            <a:pPr algn="l"/>
            <a:r>
              <a:rPr sz="1800" b="0" i="0">
                <a:solidFill>
                  <a:srgbClr val="1E1E1E"/>
                </a:solidFill>
              </a:rPr>
              <a:t>• セールスは実際には難しいのに、簡単そうに見せるのがうまい人ほど正体がわかりにくい</a:t>
            </a:r>
          </a:p>
        </p:txBody>
      </p:sp>
      <p:sp>
        <p:nvSpPr>
          <p:cNvPr id="11" name="TextBox 10"/>
          <p:cNvSpPr txBox="1"/>
          <p:nvPr/>
        </p:nvSpPr>
        <p:spPr>
          <a:xfrm>
            <a:off x="640080" y="3822191"/>
            <a:ext cx="10515600" cy="502920"/>
          </a:xfrm>
          <a:prstGeom prst="rect">
            <a:avLst/>
          </a:prstGeom>
          <a:noFill/>
        </p:spPr>
        <p:txBody>
          <a:bodyPr wrap="square">
            <a:spAutoFit/>
          </a:bodyPr>
          <a:lstStyle/>
          <a:p>
            <a:pPr algn="l"/>
            <a:r>
              <a:rPr sz="1800" b="0" i="0">
                <a:solidFill>
                  <a:srgbClr val="1E1E1E"/>
                </a:solidFill>
              </a:rPr>
              <a:t>• あからさまな売り込みに抵抗できると「自分は広告に影響されない」と思い込んでしまう</a:t>
            </a:r>
          </a:p>
        </p:txBody>
      </p:sp>
      <p:sp>
        <p:nvSpPr>
          <p:cNvPr id="12" name="Rectangle 11"/>
          <p:cNvSpPr/>
          <p:nvPr/>
        </p:nvSpPr>
        <p:spPr>
          <a:xfrm>
            <a:off x="640080" y="4434840"/>
            <a:ext cx="10607040" cy="868680"/>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4544568"/>
            <a:ext cx="10241280" cy="649224"/>
          </a:xfrm>
          <a:prstGeom prst="rect">
            <a:avLst/>
          </a:prstGeom>
          <a:noFill/>
        </p:spPr>
        <p:txBody>
          <a:bodyPr wrap="square">
            <a:spAutoFit/>
          </a:bodyPr>
          <a:lstStyle/>
          <a:p>
            <a:pPr algn="l"/>
            <a:r>
              <a:rPr sz="1700" b="0" i="0">
                <a:solidFill>
                  <a:srgbClr val="1E1E1E"/>
                </a:solidFill>
              </a:rPr>
              <a:t>「自分が影響されていることに気づかない人は、二重に騙されているわけだ。
広告はすぐに買わせるためではなく、のちの売り上げにつながる印象を刷り込むためにある」</a:t>
            </a:r>
          </a:p>
        </p:txBody>
      </p:sp>
      <p:sp>
        <p:nvSpPr>
          <p:cNvPr id="14" name="TextBox 13"/>
          <p:cNvSpPr txBox="1"/>
          <p:nvPr/>
        </p:nvSpPr>
        <p:spPr>
          <a:xfrm>
            <a:off x="640080" y="5440680"/>
            <a:ext cx="10515600" cy="548640"/>
          </a:xfrm>
          <a:prstGeom prst="rect">
            <a:avLst/>
          </a:prstGeom>
          <a:noFill/>
        </p:spPr>
        <p:txBody>
          <a:bodyPr wrap="square">
            <a:spAutoFit/>
          </a:bodyPr>
          <a:lstStyle/>
          <a:p>
            <a:pPr algn="l"/>
            <a:r>
              <a:rPr sz="1700" b="1" i="0">
                <a:solidFill>
                  <a:srgbClr val="1A2E5C"/>
                </a:solidFill>
              </a:rPr>
              <a:t>「フィールド・オブ・ドリームス」的発想（それを作ればみんなやってくる）は、シリコンバレー最大の幻想だ。</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一流の営業</a:t>
            </a:r>
          </a:p>
        </p:txBody>
      </p:sp>
      <p:sp>
        <p:nvSpPr>
          <p:cNvPr id="5" name="TextBox 4"/>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トム・ソーヤのフェンス塗り</a:t>
            </a:r>
          </a:p>
        </p:txBody>
      </p:sp>
      <p:sp>
        <p:nvSpPr>
          <p:cNvPr id="6" name="Rectangle 5"/>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64208"/>
            <a:ext cx="10515600" cy="594360"/>
          </a:xfrm>
          <a:prstGeom prst="rect">
            <a:avLst/>
          </a:prstGeom>
          <a:noFill/>
        </p:spPr>
        <p:txBody>
          <a:bodyPr wrap="square">
            <a:spAutoFit/>
          </a:bodyPr>
          <a:lstStyle/>
          <a:p>
            <a:pPr algn="l"/>
            <a:r>
              <a:rPr sz="1800" b="0" i="0">
                <a:solidFill>
                  <a:srgbClr val="1E1E1E"/>
                </a:solidFill>
              </a:rPr>
              <a:t>優秀でないセールスだけを見て「営業は不誠実だ」と判断するのは間違い。一流の売り込みは、売り込みに見えない。</a:t>
            </a:r>
          </a:p>
        </p:txBody>
      </p:sp>
      <p:sp>
        <p:nvSpPr>
          <p:cNvPr id="8" name="Rectangle 7"/>
          <p:cNvSpPr/>
          <p:nvPr/>
        </p:nvSpPr>
        <p:spPr>
          <a:xfrm>
            <a:off x="640080" y="2331720"/>
            <a:ext cx="10607040" cy="868680"/>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41448"/>
            <a:ext cx="10241280" cy="649224"/>
          </a:xfrm>
          <a:prstGeom prst="rect">
            <a:avLst/>
          </a:prstGeom>
          <a:noFill/>
        </p:spPr>
        <p:txBody>
          <a:bodyPr wrap="square">
            <a:spAutoFit/>
          </a:bodyPr>
          <a:lstStyle/>
          <a:p>
            <a:pPr algn="l"/>
            <a:r>
              <a:rPr sz="1700" b="0" i="0">
                <a:solidFill>
                  <a:srgbClr val="1E1E1E"/>
                </a:solidFill>
              </a:rPr>
              <a:t>「トム・ソーヤは近所の友だちにフェンスのペンキを自分の代わりに塗ってもらい、
さらにその作業に対してお金まで払わせた。それが超達人の技だ」</a:t>
            </a:r>
          </a:p>
        </p:txBody>
      </p:sp>
      <p:sp>
        <p:nvSpPr>
          <p:cNvPr id="10" name="TextBox 9"/>
          <p:cNvSpPr txBox="1"/>
          <p:nvPr/>
        </p:nvSpPr>
        <p:spPr>
          <a:xfrm>
            <a:off x="640080" y="3337560"/>
            <a:ext cx="10972800" cy="384048"/>
          </a:xfrm>
          <a:prstGeom prst="rect">
            <a:avLst/>
          </a:prstGeom>
          <a:noFill/>
        </p:spPr>
        <p:txBody>
          <a:bodyPr wrap="square">
            <a:spAutoFit/>
          </a:bodyPr>
          <a:lstStyle/>
          <a:p>
            <a:pPr algn="l"/>
            <a:r>
              <a:rPr sz="1400" b="1" i="0">
                <a:solidFill>
                  <a:srgbClr val="555555"/>
                </a:solidFill>
              </a:rPr>
              <a:t>「営業」を隠した肩書きの実例</a:t>
            </a:r>
          </a:p>
        </p:txBody>
      </p:sp>
      <p:sp>
        <p:nvSpPr>
          <p:cNvPr id="11" name="Rectangle 10"/>
          <p:cNvSpPr/>
          <p:nvPr/>
        </p:nvSpPr>
        <p:spPr>
          <a:xfrm>
            <a:off x="594360" y="3749039"/>
            <a:ext cx="256032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3794760"/>
            <a:ext cx="2340863" cy="457200"/>
          </a:xfrm>
          <a:prstGeom prst="rect">
            <a:avLst/>
          </a:prstGeom>
          <a:noFill/>
        </p:spPr>
        <p:txBody>
          <a:bodyPr wrap="square">
            <a:spAutoFit/>
          </a:bodyPr>
          <a:lstStyle/>
          <a:p>
            <a:pPr algn="l"/>
            <a:r>
              <a:rPr sz="1300" b="0" i="0">
                <a:solidFill>
                  <a:srgbClr val="555555"/>
                </a:solidFill>
              </a:rPr>
              <a:t>広告を売る人</a:t>
            </a:r>
          </a:p>
        </p:txBody>
      </p:sp>
      <p:sp>
        <p:nvSpPr>
          <p:cNvPr id="13" name="TextBox 12"/>
          <p:cNvSpPr txBox="1"/>
          <p:nvPr/>
        </p:nvSpPr>
        <p:spPr>
          <a:xfrm>
            <a:off x="704088" y="4251960"/>
            <a:ext cx="2340863" cy="822960"/>
          </a:xfrm>
          <a:prstGeom prst="rect">
            <a:avLst/>
          </a:prstGeom>
          <a:noFill/>
        </p:spPr>
        <p:txBody>
          <a:bodyPr wrap="square">
            <a:spAutoFit/>
          </a:bodyPr>
          <a:lstStyle/>
          <a:p>
            <a:pPr algn="l"/>
            <a:r>
              <a:rPr sz="1700" b="1" i="0">
                <a:solidFill>
                  <a:srgbClr val="1A2E5C"/>
                </a:solidFill>
              </a:rPr>
              <a:t>アカウント・
エグゼクティブ</a:t>
            </a:r>
          </a:p>
        </p:txBody>
      </p:sp>
      <p:sp>
        <p:nvSpPr>
          <p:cNvPr id="14" name="Rectangle 13"/>
          <p:cNvSpPr/>
          <p:nvPr/>
        </p:nvSpPr>
        <p:spPr>
          <a:xfrm>
            <a:off x="3355848" y="3749039"/>
            <a:ext cx="256032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65576" y="3794760"/>
            <a:ext cx="2340863" cy="457200"/>
          </a:xfrm>
          <a:prstGeom prst="rect">
            <a:avLst/>
          </a:prstGeom>
          <a:noFill/>
        </p:spPr>
        <p:txBody>
          <a:bodyPr wrap="square">
            <a:spAutoFit/>
          </a:bodyPr>
          <a:lstStyle/>
          <a:p>
            <a:pPr algn="l"/>
            <a:r>
              <a:rPr sz="1300" b="0" i="0">
                <a:solidFill>
                  <a:srgbClr val="555555"/>
                </a:solidFill>
              </a:rPr>
              <a:t>新規顧客開拓</a:t>
            </a:r>
          </a:p>
        </p:txBody>
      </p:sp>
      <p:sp>
        <p:nvSpPr>
          <p:cNvPr id="16" name="TextBox 15"/>
          <p:cNvSpPr txBox="1"/>
          <p:nvPr/>
        </p:nvSpPr>
        <p:spPr>
          <a:xfrm>
            <a:off x="3465576" y="4251960"/>
            <a:ext cx="2340863" cy="822960"/>
          </a:xfrm>
          <a:prstGeom prst="rect">
            <a:avLst/>
          </a:prstGeom>
          <a:noFill/>
        </p:spPr>
        <p:txBody>
          <a:bodyPr wrap="square">
            <a:spAutoFit/>
          </a:bodyPr>
          <a:lstStyle/>
          <a:p>
            <a:pPr algn="l"/>
            <a:r>
              <a:rPr sz="1700" b="1" i="0">
                <a:solidFill>
                  <a:srgbClr val="1A2E5C"/>
                </a:solidFill>
              </a:rPr>
              <a:t>事業開発</a:t>
            </a:r>
          </a:p>
        </p:txBody>
      </p:sp>
      <p:sp>
        <p:nvSpPr>
          <p:cNvPr id="17" name="Rectangle 16"/>
          <p:cNvSpPr/>
          <p:nvPr/>
        </p:nvSpPr>
        <p:spPr>
          <a:xfrm>
            <a:off x="6117336" y="3749039"/>
            <a:ext cx="256032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27064" y="3794760"/>
            <a:ext cx="2340863" cy="457200"/>
          </a:xfrm>
          <a:prstGeom prst="rect">
            <a:avLst/>
          </a:prstGeom>
          <a:noFill/>
        </p:spPr>
        <p:txBody>
          <a:bodyPr wrap="square">
            <a:spAutoFit/>
          </a:bodyPr>
          <a:lstStyle/>
          <a:p>
            <a:pPr algn="l"/>
            <a:r>
              <a:rPr sz="1300" b="0" i="0">
                <a:solidFill>
                  <a:srgbClr val="555555"/>
                </a:solidFill>
              </a:rPr>
              <a:t>M&amp;A仲介</a:t>
            </a:r>
          </a:p>
        </p:txBody>
      </p:sp>
      <p:sp>
        <p:nvSpPr>
          <p:cNvPr id="19" name="TextBox 18"/>
          <p:cNvSpPr txBox="1"/>
          <p:nvPr/>
        </p:nvSpPr>
        <p:spPr>
          <a:xfrm>
            <a:off x="6227064" y="4251960"/>
            <a:ext cx="2340863" cy="822960"/>
          </a:xfrm>
          <a:prstGeom prst="rect">
            <a:avLst/>
          </a:prstGeom>
          <a:noFill/>
        </p:spPr>
        <p:txBody>
          <a:bodyPr wrap="square">
            <a:spAutoFit/>
          </a:bodyPr>
          <a:lstStyle/>
          <a:p>
            <a:pPr algn="l"/>
            <a:r>
              <a:rPr sz="1700" b="1" i="0">
                <a:solidFill>
                  <a:srgbClr val="1A2E5C"/>
                </a:solidFill>
              </a:rPr>
              <a:t>インベストメント
バンカー</a:t>
            </a:r>
          </a:p>
        </p:txBody>
      </p:sp>
      <p:sp>
        <p:nvSpPr>
          <p:cNvPr id="20" name="Rectangle 19"/>
          <p:cNvSpPr/>
          <p:nvPr/>
        </p:nvSpPr>
        <p:spPr>
          <a:xfrm>
            <a:off x="8878824" y="3749039"/>
            <a:ext cx="256032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88552" y="3794760"/>
            <a:ext cx="2340863" cy="457200"/>
          </a:xfrm>
          <a:prstGeom prst="rect">
            <a:avLst/>
          </a:prstGeom>
          <a:noFill/>
        </p:spPr>
        <p:txBody>
          <a:bodyPr wrap="square">
            <a:spAutoFit/>
          </a:bodyPr>
          <a:lstStyle/>
          <a:p>
            <a:pPr algn="l"/>
            <a:r>
              <a:rPr sz="1300" b="0" i="0">
                <a:solidFill>
                  <a:srgbClr val="555555"/>
                </a:solidFill>
              </a:rPr>
              <a:t>自分を売り込む人</a:t>
            </a:r>
          </a:p>
        </p:txBody>
      </p:sp>
      <p:sp>
        <p:nvSpPr>
          <p:cNvPr id="22" name="TextBox 21"/>
          <p:cNvSpPr txBox="1"/>
          <p:nvPr/>
        </p:nvSpPr>
        <p:spPr>
          <a:xfrm>
            <a:off x="8988552" y="4251960"/>
            <a:ext cx="2340863" cy="822960"/>
          </a:xfrm>
          <a:prstGeom prst="rect">
            <a:avLst/>
          </a:prstGeom>
          <a:noFill/>
        </p:spPr>
        <p:txBody>
          <a:bodyPr wrap="square">
            <a:spAutoFit/>
          </a:bodyPr>
          <a:lstStyle/>
          <a:p>
            <a:pPr algn="l"/>
            <a:r>
              <a:rPr sz="1700" b="1" i="0">
                <a:solidFill>
                  <a:srgbClr val="1A2E5C"/>
                </a:solidFill>
              </a:rPr>
              <a:t>政治家</a:t>
            </a:r>
          </a:p>
        </p:txBody>
      </p:sp>
      <p:sp>
        <p:nvSpPr>
          <p:cNvPr id="23" name="TextBox 22"/>
          <p:cNvSpPr txBox="1"/>
          <p:nvPr/>
        </p:nvSpPr>
        <p:spPr>
          <a:xfrm>
            <a:off x="640080" y="5376672"/>
            <a:ext cx="10515600" cy="594360"/>
          </a:xfrm>
          <a:prstGeom prst="rect">
            <a:avLst/>
          </a:prstGeom>
          <a:noFill/>
        </p:spPr>
        <p:txBody>
          <a:bodyPr wrap="square">
            <a:spAutoFit/>
          </a:bodyPr>
          <a:lstStyle/>
          <a:p>
            <a:pPr algn="l"/>
            <a:r>
              <a:rPr sz="1600" b="1" i="0">
                <a:solidFill>
                  <a:srgbClr val="1A2E5C"/>
                </a:solidFill>
              </a:rPr>
              <a:t>「企業人が営業を軽んじる最大の理由は、世のあらゆるレベルが本当は営業に動かされていることを、社会が隠そうとしているからだ」</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販売戦略の設計</a:t>
            </a:r>
          </a:p>
        </p:txBody>
      </p:sp>
      <p:sp>
        <p:nvSpPr>
          <p:cNvPr id="5" name="TextBox 4"/>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CLVがCACを上回れば勝てる</a:t>
            </a:r>
          </a:p>
        </p:txBody>
      </p:sp>
      <p:sp>
        <p:nvSpPr>
          <p:cNvPr id="6" name="Rectangle 5"/>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64208"/>
            <a:ext cx="10515600" cy="749808"/>
          </a:xfrm>
          <a:prstGeom prst="rect">
            <a:avLst/>
          </a:prstGeom>
          <a:noFill/>
        </p:spPr>
        <p:txBody>
          <a:bodyPr wrap="square">
            <a:spAutoFit/>
          </a:bodyPr>
          <a:lstStyle/>
          <a:p>
            <a:pPr algn="l"/>
            <a:r>
              <a:rPr sz="1800" b="0" i="0">
                <a:solidFill>
                  <a:srgbClr val="1E1E1E"/>
                </a:solidFill>
              </a:rPr>
              <a:t>製品の単価によって最適な販売手段は異なる。顧客生涯価値（CLV）が顧客獲得コスト（CAC）を上回ることが、有効な販売チャネルの絶対条件だ。</a:t>
            </a:r>
          </a:p>
        </p:txBody>
      </p:sp>
      <p:sp>
        <p:nvSpPr>
          <p:cNvPr id="8" name="Rectangle 7"/>
          <p:cNvSpPr/>
          <p:nvPr/>
        </p:nvSpPr>
        <p:spPr>
          <a:xfrm>
            <a:off x="457200" y="2542032"/>
            <a:ext cx="2724912" cy="27432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606040"/>
            <a:ext cx="2505456" cy="640080"/>
          </a:xfrm>
          <a:prstGeom prst="rect">
            <a:avLst/>
          </a:prstGeom>
          <a:noFill/>
        </p:spPr>
        <p:txBody>
          <a:bodyPr wrap="square">
            <a:spAutoFit/>
          </a:bodyPr>
          <a:lstStyle/>
          <a:p>
            <a:pPr algn="l"/>
            <a:r>
              <a:rPr sz="1500" b="1" i="0">
                <a:solidFill>
                  <a:srgbClr val="1A2E5C"/>
                </a:solidFill>
              </a:rPr>
              <a:t>コンプレックス・
セールス</a:t>
            </a:r>
          </a:p>
        </p:txBody>
      </p:sp>
      <p:sp>
        <p:nvSpPr>
          <p:cNvPr id="10" name="TextBox 9"/>
          <p:cNvSpPr txBox="1"/>
          <p:nvPr/>
        </p:nvSpPr>
        <p:spPr>
          <a:xfrm>
            <a:off x="566928" y="3273552"/>
            <a:ext cx="2505456" cy="1920240"/>
          </a:xfrm>
          <a:prstGeom prst="rect">
            <a:avLst/>
          </a:prstGeom>
          <a:noFill/>
        </p:spPr>
        <p:txBody>
          <a:bodyPr wrap="square">
            <a:spAutoFit/>
          </a:bodyPr>
          <a:lstStyle/>
          <a:p>
            <a:pPr algn="l"/>
            <a:r>
              <a:rPr sz="1400" b="0" i="0">
                <a:solidFill>
                  <a:srgbClr val="1E1E1E"/>
                </a:solidFill>
              </a:rPr>
              <a:t>単価 $1M〜
CEOが直接交渉
年間数件で成立</a:t>
            </a:r>
          </a:p>
        </p:txBody>
      </p:sp>
      <p:sp>
        <p:nvSpPr>
          <p:cNvPr id="11" name="Rectangle 10"/>
          <p:cNvSpPr/>
          <p:nvPr/>
        </p:nvSpPr>
        <p:spPr>
          <a:xfrm>
            <a:off x="3236976" y="2542032"/>
            <a:ext cx="2724912" cy="274320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46704" y="2606040"/>
            <a:ext cx="2505456" cy="640080"/>
          </a:xfrm>
          <a:prstGeom prst="rect">
            <a:avLst/>
          </a:prstGeom>
          <a:noFill/>
        </p:spPr>
        <p:txBody>
          <a:bodyPr wrap="square">
            <a:spAutoFit/>
          </a:bodyPr>
          <a:lstStyle/>
          <a:p>
            <a:pPr algn="l"/>
            <a:r>
              <a:rPr sz="1500" b="1" i="0">
                <a:solidFill>
                  <a:srgbClr val="1A2E5C"/>
                </a:solidFill>
              </a:rPr>
              <a:t>個人セールス</a:t>
            </a:r>
          </a:p>
        </p:txBody>
      </p:sp>
      <p:sp>
        <p:nvSpPr>
          <p:cNvPr id="13" name="TextBox 12"/>
          <p:cNvSpPr txBox="1"/>
          <p:nvPr/>
        </p:nvSpPr>
        <p:spPr>
          <a:xfrm>
            <a:off x="3346704" y="3273552"/>
            <a:ext cx="2505456" cy="1920240"/>
          </a:xfrm>
          <a:prstGeom prst="rect">
            <a:avLst/>
          </a:prstGeom>
          <a:noFill/>
        </p:spPr>
        <p:txBody>
          <a:bodyPr wrap="square">
            <a:spAutoFit/>
          </a:bodyPr>
          <a:lstStyle/>
          <a:p>
            <a:pPr algn="l"/>
            <a:r>
              <a:rPr sz="1400" b="0" i="0">
                <a:solidFill>
                  <a:srgbClr val="1E1E1E"/>
                </a:solidFill>
              </a:rPr>
              <a:t>単価 $1万〜10万
営業チームによる
プロセス設計が鍵</a:t>
            </a:r>
          </a:p>
        </p:txBody>
      </p:sp>
      <p:sp>
        <p:nvSpPr>
          <p:cNvPr id="14" name="Rectangle 13"/>
          <p:cNvSpPr/>
          <p:nvPr/>
        </p:nvSpPr>
        <p:spPr>
          <a:xfrm>
            <a:off x="6016752" y="2542032"/>
            <a:ext cx="2724912" cy="2743200"/>
          </a:xfrm>
          <a:prstGeom prst="rect">
            <a:avLst/>
          </a:prstGeom>
          <a:solidFill>
            <a:srgbClr val="E8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2606040"/>
            <a:ext cx="2505456" cy="640080"/>
          </a:xfrm>
          <a:prstGeom prst="rect">
            <a:avLst/>
          </a:prstGeom>
          <a:noFill/>
        </p:spPr>
        <p:txBody>
          <a:bodyPr wrap="square">
            <a:spAutoFit/>
          </a:bodyPr>
          <a:lstStyle/>
          <a:p>
            <a:pPr algn="l"/>
            <a:r>
              <a:rPr sz="1500" b="1" i="0">
                <a:solidFill>
                  <a:srgbClr val="1A2E5C"/>
                </a:solidFill>
              </a:rPr>
              <a:t>バイラル／
マーケティング</a:t>
            </a:r>
          </a:p>
        </p:txBody>
      </p:sp>
      <p:sp>
        <p:nvSpPr>
          <p:cNvPr id="16" name="TextBox 15"/>
          <p:cNvSpPr txBox="1"/>
          <p:nvPr/>
        </p:nvSpPr>
        <p:spPr>
          <a:xfrm>
            <a:off x="6126480" y="3273552"/>
            <a:ext cx="2505456" cy="1920240"/>
          </a:xfrm>
          <a:prstGeom prst="rect">
            <a:avLst/>
          </a:prstGeom>
          <a:noFill/>
        </p:spPr>
        <p:txBody>
          <a:bodyPr wrap="square">
            <a:spAutoFit/>
          </a:bodyPr>
          <a:lstStyle/>
          <a:p>
            <a:pPr algn="l"/>
            <a:r>
              <a:rPr sz="1400" b="0" i="0">
                <a:solidFill>
                  <a:srgbClr val="1E1E1E"/>
                </a:solidFill>
              </a:rPr>
              <a:t>単価 〜数千ドル
製品自体が伝播
ユーザーが呼ぶ</a:t>
            </a:r>
          </a:p>
        </p:txBody>
      </p:sp>
      <p:sp>
        <p:nvSpPr>
          <p:cNvPr id="17" name="Rectangle 16"/>
          <p:cNvSpPr/>
          <p:nvPr/>
        </p:nvSpPr>
        <p:spPr>
          <a:xfrm>
            <a:off x="8796528" y="2542032"/>
            <a:ext cx="2724912" cy="2743200"/>
          </a:xfrm>
          <a:prstGeom prst="rect">
            <a:avLst/>
          </a:prstGeom>
          <a:solidFill>
            <a:srgbClr val="F5F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06256" y="2606040"/>
            <a:ext cx="2505456" cy="640080"/>
          </a:xfrm>
          <a:prstGeom prst="rect">
            <a:avLst/>
          </a:prstGeom>
          <a:noFill/>
        </p:spPr>
        <p:txBody>
          <a:bodyPr wrap="square">
            <a:spAutoFit/>
          </a:bodyPr>
          <a:lstStyle/>
          <a:p>
            <a:pPr algn="l"/>
            <a:r>
              <a:rPr sz="1500" b="1" i="0">
                <a:solidFill>
                  <a:srgbClr val="1A2E5C"/>
                </a:solidFill>
              </a:rPr>
              <a:t>広告宣伝</a:t>
            </a:r>
          </a:p>
        </p:txBody>
      </p:sp>
      <p:sp>
        <p:nvSpPr>
          <p:cNvPr id="19" name="TextBox 18"/>
          <p:cNvSpPr txBox="1"/>
          <p:nvPr/>
        </p:nvSpPr>
        <p:spPr>
          <a:xfrm>
            <a:off x="8906256" y="3273552"/>
            <a:ext cx="2505456" cy="1920240"/>
          </a:xfrm>
          <a:prstGeom prst="rect">
            <a:avLst/>
          </a:prstGeom>
          <a:noFill/>
        </p:spPr>
        <p:txBody>
          <a:bodyPr wrap="square">
            <a:spAutoFit/>
          </a:bodyPr>
          <a:lstStyle/>
          <a:p>
            <a:pPr algn="l"/>
            <a:r>
              <a:rPr sz="1400" b="0" i="0">
                <a:solidFill>
                  <a:srgbClr val="1E1E1E"/>
                </a:solidFill>
              </a:rPr>
              <a:t>低単価・大量
テレビ・クーポン
個別営業は割高</a:t>
            </a:r>
          </a:p>
        </p:txBody>
      </p:sp>
      <p:sp>
        <p:nvSpPr>
          <p:cNvPr id="20" name="Rectangle 19"/>
          <p:cNvSpPr/>
          <p:nvPr/>
        </p:nvSpPr>
        <p:spPr>
          <a:xfrm>
            <a:off x="640080" y="5413248"/>
            <a:ext cx="10607040" cy="594360"/>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5522976"/>
            <a:ext cx="10241280" cy="374904"/>
          </a:xfrm>
          <a:prstGeom prst="rect">
            <a:avLst/>
          </a:prstGeom>
          <a:noFill/>
        </p:spPr>
        <p:txBody>
          <a:bodyPr wrap="square">
            <a:spAutoFit/>
          </a:bodyPr>
          <a:lstStyle/>
          <a:p>
            <a:pPr algn="l"/>
            <a:r>
              <a:rPr sz="1700" b="0" i="0">
                <a:solidFill>
                  <a:srgbClr val="1E1E1E"/>
                </a:solidFill>
              </a:rPr>
              <a:t>「差別化されていないプロダクトでも、販売が優れていれば独占を築ける。逆のケースはない」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コンプレックス・セールス</a:t>
            </a:r>
          </a:p>
        </p:txBody>
      </p:sp>
      <p:sp>
        <p:nvSpPr>
          <p:cNvPr id="5" name="TextBox 4"/>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SpaceXとPalantirのCEO直売</a:t>
            </a:r>
          </a:p>
        </p:txBody>
      </p:sp>
      <p:sp>
        <p:nvSpPr>
          <p:cNvPr id="6" name="Rectangle 5"/>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64208"/>
            <a:ext cx="10515600" cy="594360"/>
          </a:xfrm>
          <a:prstGeom prst="rect">
            <a:avLst/>
          </a:prstGeom>
          <a:noFill/>
        </p:spPr>
        <p:txBody>
          <a:bodyPr wrap="square">
            <a:spAutoFit/>
          </a:bodyPr>
          <a:lstStyle/>
          <a:p>
            <a:pPr algn="l"/>
            <a:r>
              <a:rPr sz="1800" b="0" i="0">
                <a:solidFill>
                  <a:srgbClr val="1E1E1E"/>
                </a:solidFill>
              </a:rPr>
              <a:t>平均販売単価が7桁を超える場合、すべての案件に一対一で長期間向き合う必要がある。CEOが自ら顧客に会うことが決定的な差になる。</a:t>
            </a:r>
          </a:p>
        </p:txBody>
      </p:sp>
      <p:sp>
        <p:nvSpPr>
          <p:cNvPr id="8" name="Rectangle 7"/>
          <p:cNvSpPr/>
          <p:nvPr/>
        </p:nvSpPr>
        <p:spPr>
          <a:xfrm>
            <a:off x="594360" y="2359152"/>
            <a:ext cx="5394960" cy="379476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404872"/>
            <a:ext cx="5029200" cy="438912"/>
          </a:xfrm>
          <a:prstGeom prst="rect">
            <a:avLst/>
          </a:prstGeom>
          <a:noFill/>
        </p:spPr>
        <p:txBody>
          <a:bodyPr wrap="square">
            <a:spAutoFit/>
          </a:bodyPr>
          <a:lstStyle/>
          <a:p>
            <a:pPr algn="l"/>
            <a:r>
              <a:rPr sz="1800" b="1" i="0">
                <a:solidFill>
                  <a:srgbClr val="1A2E5C"/>
                </a:solidFill>
              </a:rPr>
              <a:t>SpaceX</a:t>
            </a:r>
          </a:p>
        </p:txBody>
      </p:sp>
      <p:sp>
        <p:nvSpPr>
          <p:cNvPr id="10" name="TextBox 9"/>
          <p:cNvSpPr txBox="1"/>
          <p:nvPr/>
        </p:nvSpPr>
        <p:spPr>
          <a:xfrm>
            <a:off x="777240" y="2880360"/>
            <a:ext cx="5029200" cy="3154680"/>
          </a:xfrm>
          <a:prstGeom prst="rect">
            <a:avLst/>
          </a:prstGeom>
          <a:noFill/>
        </p:spPr>
        <p:txBody>
          <a:bodyPr wrap="square">
            <a:spAutoFit/>
          </a:bodyPr>
          <a:lstStyle/>
          <a:p>
            <a:pPr algn="l"/>
            <a:r>
              <a:rPr sz="1400" b="0" i="0">
                <a:solidFill>
                  <a:srgbClr val="1E1E1E"/>
                </a:solidFill>
              </a:rPr>
              <a:t>• 設立数年でNASAと数十億ドル単位の契約を締結
• 老朽化したスペースシャトルをSpaceX製宇宙船に置換
• 雇用はカリフォルニア一州に3,000人
  （既存航空宇宙産業は50州で50万人）
イーロン・マスクがキーパーソンに集中して
働きかけることで、硬直した政治の壁を突破</a:t>
            </a:r>
          </a:p>
        </p:txBody>
      </p:sp>
      <p:sp>
        <p:nvSpPr>
          <p:cNvPr id="11" name="Rectangle 10"/>
          <p:cNvSpPr/>
          <p:nvPr/>
        </p:nvSpPr>
        <p:spPr>
          <a:xfrm>
            <a:off x="6199632" y="2359152"/>
            <a:ext cx="5394960" cy="379476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404872"/>
            <a:ext cx="5029200" cy="438912"/>
          </a:xfrm>
          <a:prstGeom prst="rect">
            <a:avLst/>
          </a:prstGeom>
          <a:noFill/>
        </p:spPr>
        <p:txBody>
          <a:bodyPr wrap="square">
            <a:spAutoFit/>
          </a:bodyPr>
          <a:lstStyle/>
          <a:p>
            <a:pPr algn="l"/>
            <a:r>
              <a:rPr sz="1800" b="1" i="0">
                <a:solidFill>
                  <a:srgbClr val="1A2E5C"/>
                </a:solidFill>
              </a:rPr>
              <a:t>Palantir</a:t>
            </a:r>
          </a:p>
        </p:txBody>
      </p:sp>
      <p:sp>
        <p:nvSpPr>
          <p:cNvPr id="13" name="TextBox 12"/>
          <p:cNvSpPr txBox="1"/>
          <p:nvPr/>
        </p:nvSpPr>
        <p:spPr>
          <a:xfrm>
            <a:off x="6382512" y="2880360"/>
            <a:ext cx="5029200" cy="3154680"/>
          </a:xfrm>
          <a:prstGeom prst="rect">
            <a:avLst/>
          </a:prstGeom>
          <a:noFill/>
        </p:spPr>
        <p:txBody>
          <a:bodyPr wrap="square">
            <a:spAutoFit/>
          </a:bodyPr>
          <a:lstStyle/>
          <a:p>
            <a:pPr algn="l"/>
            <a:r>
              <a:rPr sz="1400" b="0" i="0">
                <a:solidFill>
                  <a:srgbClr val="1E1E1E"/>
                </a:solidFill>
              </a:rPr>
              <a:t>• 「営業」専任の社員は存在しない
• CEOのアレックス・カープが月25日は外出し
  クライアントに直接会う
• 案件規模は100万〜1億ドル
これほどの高額案件では、
買い手はCEOと直接話したがる。
営業部門の副社長では代替できない</a:t>
            </a:r>
          </a:p>
        </p:txBody>
      </p:sp>
      <p:sp>
        <p:nvSpPr>
          <p:cNvPr id="14" name="TextBox 13"/>
          <p:cNvSpPr txBox="1"/>
          <p:nvPr/>
        </p:nvSpPr>
        <p:spPr>
          <a:xfrm>
            <a:off x="640080" y="6236208"/>
            <a:ext cx="10515600" cy="502920"/>
          </a:xfrm>
          <a:prstGeom prst="rect">
            <a:avLst/>
          </a:prstGeom>
          <a:noFill/>
        </p:spPr>
        <p:txBody>
          <a:bodyPr wrap="square">
            <a:spAutoFit/>
          </a:bodyPr>
          <a:lstStyle/>
          <a:p>
            <a:pPr algn="l"/>
            <a:r>
              <a:rPr sz="1600" b="1" i="0">
                <a:solidFill>
                  <a:srgbClr val="1A2E5C"/>
                </a:solidFill>
              </a:rPr>
              <a:t>コンプレックス・セールスは「営業マン」がいない方がうまくいく。年率50〜100%成長を10年続ければ成功だ。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個人セールス / バイラル</a:t>
            </a:r>
          </a:p>
        </p:txBody>
      </p:sp>
      <p:sp>
        <p:nvSpPr>
          <p:cNvPr id="5" name="TextBox 4"/>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eBayパワーセラーから始めたPayPal</a:t>
            </a:r>
          </a:p>
        </p:txBody>
      </p:sp>
      <p:sp>
        <p:nvSpPr>
          <p:cNvPr id="6" name="Rectangle 5"/>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64208"/>
            <a:ext cx="10515600" cy="749808"/>
          </a:xfrm>
          <a:prstGeom prst="rect">
            <a:avLst/>
          </a:prstGeom>
          <a:noFill/>
        </p:spPr>
        <p:txBody>
          <a:bodyPr wrap="square">
            <a:spAutoFit/>
          </a:bodyPr>
          <a:lstStyle/>
          <a:p>
            <a:pPr algn="l"/>
            <a:r>
              <a:rPr sz="1800" b="0" i="0">
                <a:solidFill>
                  <a:srgbClr val="1E1E1E"/>
                </a:solidFill>
              </a:rPr>
              <a:t>バイラル成長とは、製品を使うこと自体が新たなユーザーを連れてくる状態。Boxは「小さな入口から企業全体へ」、PayPalは「最初から正しいセグメントを独占」した。</a:t>
            </a:r>
          </a:p>
        </p:txBody>
      </p:sp>
      <p:sp>
        <p:nvSpPr>
          <p:cNvPr id="8" name="Rectangle 7"/>
          <p:cNvSpPr/>
          <p:nvPr/>
        </p:nvSpPr>
        <p:spPr>
          <a:xfrm>
            <a:off x="594360" y="2487168"/>
            <a:ext cx="5394960" cy="32461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532888"/>
            <a:ext cx="5029200" cy="438912"/>
          </a:xfrm>
          <a:prstGeom prst="rect">
            <a:avLst/>
          </a:prstGeom>
          <a:noFill/>
        </p:spPr>
        <p:txBody>
          <a:bodyPr wrap="square">
            <a:spAutoFit/>
          </a:bodyPr>
          <a:lstStyle/>
          <a:p>
            <a:pPr algn="l"/>
            <a:r>
              <a:rPr sz="1600" b="1" i="0">
                <a:solidFill>
                  <a:srgbClr val="1A2E5C"/>
                </a:solidFill>
              </a:rPr>
              <a:t>Box — 個人セールス</a:t>
            </a:r>
          </a:p>
        </p:txBody>
      </p:sp>
      <p:sp>
        <p:nvSpPr>
          <p:cNvPr id="10" name="TextBox 9"/>
          <p:cNvSpPr txBox="1"/>
          <p:nvPr/>
        </p:nvSpPr>
        <p:spPr>
          <a:xfrm>
            <a:off x="777240" y="2999232"/>
            <a:ext cx="5029200" cy="2606040"/>
          </a:xfrm>
          <a:prstGeom prst="rect">
            <a:avLst/>
          </a:prstGeom>
          <a:noFill/>
        </p:spPr>
        <p:txBody>
          <a:bodyPr wrap="square">
            <a:spAutoFit/>
          </a:bodyPr>
          <a:lstStyle/>
          <a:p>
            <a:pPr algn="l"/>
            <a:r>
              <a:rPr sz="1400" b="0" i="0">
                <a:solidFill>
                  <a:srgbClr val="1E1E1E"/>
                </a:solidFill>
              </a:rPr>
              <a:t>• 2005年創業、当時クラウドはまだ普及前
• まず「ファイル共有に困っていた少数」を口説く
• 2009年、スタンフォード睡眠クリニックに
  少額アカウントを売り込み
→ 現在スタンフォード大学が全学生・教員に配布
「最初から学長に売り込んでいたら失敗していた」</a:t>
            </a:r>
          </a:p>
        </p:txBody>
      </p:sp>
      <p:sp>
        <p:nvSpPr>
          <p:cNvPr id="11" name="Rectangle 10"/>
          <p:cNvSpPr/>
          <p:nvPr/>
        </p:nvSpPr>
        <p:spPr>
          <a:xfrm>
            <a:off x="6199632" y="2487168"/>
            <a:ext cx="5394960" cy="32461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532888"/>
            <a:ext cx="5029200" cy="438912"/>
          </a:xfrm>
          <a:prstGeom prst="rect">
            <a:avLst/>
          </a:prstGeom>
          <a:noFill/>
        </p:spPr>
        <p:txBody>
          <a:bodyPr wrap="square">
            <a:spAutoFit/>
          </a:bodyPr>
          <a:lstStyle/>
          <a:p>
            <a:pPr algn="l"/>
            <a:r>
              <a:rPr sz="1600" b="1" i="0">
                <a:solidFill>
                  <a:srgbClr val="1A2E5C"/>
                </a:solidFill>
              </a:rPr>
              <a:t>PayPal — バイラル</a:t>
            </a:r>
          </a:p>
        </p:txBody>
      </p:sp>
      <p:sp>
        <p:nvSpPr>
          <p:cNvPr id="13" name="TextBox 12"/>
          <p:cNvSpPr txBox="1"/>
          <p:nvPr/>
        </p:nvSpPr>
        <p:spPr>
          <a:xfrm>
            <a:off x="6382512" y="2999232"/>
            <a:ext cx="5029200" cy="2606040"/>
          </a:xfrm>
          <a:prstGeom prst="rect">
            <a:avLst/>
          </a:prstGeom>
          <a:noFill/>
        </p:spPr>
        <p:txBody>
          <a:bodyPr wrap="square">
            <a:spAutoFit/>
          </a:bodyPr>
          <a:lstStyle/>
          <a:p>
            <a:pPr algn="l"/>
            <a:r>
              <a:rPr sz="1400" b="0" i="0">
                <a:solidFill>
                  <a:srgbClr val="1E1E1E"/>
                </a:solidFill>
              </a:rPr>
              <a:t>• 最初のユーザー24人は全員社員
• 紹介インセンティブ20ドルで開始
• ユーザー数は毎日7%増・100日で倍増
• 移民への送金より「eBayパワーセラー」
  （2万人、毎日複数取引）を狙い独占
eBay全体の決済プラットフォームへ成長</a:t>
            </a:r>
          </a:p>
        </p:txBody>
      </p:sp>
      <p:sp>
        <p:nvSpPr>
          <p:cNvPr id="14" name="Rectangle 13"/>
          <p:cNvSpPr/>
          <p:nvPr/>
        </p:nvSpPr>
        <p:spPr>
          <a:xfrm>
            <a:off x="594360" y="5833872"/>
            <a:ext cx="11000232" cy="594360"/>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943600"/>
            <a:ext cx="10634472" cy="374904"/>
          </a:xfrm>
          <a:prstGeom prst="rect">
            <a:avLst/>
          </a:prstGeom>
          <a:noFill/>
        </p:spPr>
        <p:txBody>
          <a:bodyPr wrap="square">
            <a:spAutoFit/>
          </a:bodyPr>
          <a:lstStyle/>
          <a:p>
            <a:pPr algn="l"/>
            <a:r>
              <a:rPr sz="1700" b="0" i="0">
                <a:solidFill>
                  <a:srgbClr val="1E1E1E"/>
                </a:solidFill>
              </a:rPr>
              <a:t>「バイラル成長の可能性がある市場の中で、最初から最も重要なセグメントを独占しなかった会社はラストムーバーになれない」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販売の落とし穴</a:t>
            </a:r>
          </a:p>
        </p:txBody>
      </p:sp>
      <p:sp>
        <p:nvSpPr>
          <p:cNvPr id="5" name="TextBox 4"/>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デッドゾーンとべき乗則</a:t>
            </a:r>
          </a:p>
        </p:txBody>
      </p:sp>
      <p:sp>
        <p:nvSpPr>
          <p:cNvPr id="6" name="Rectangle 5"/>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64208"/>
            <a:ext cx="10515600" cy="594360"/>
          </a:xfrm>
          <a:prstGeom prst="rect">
            <a:avLst/>
          </a:prstGeom>
          <a:noFill/>
        </p:spPr>
        <p:txBody>
          <a:bodyPr wrap="square">
            <a:spAutoFit/>
          </a:bodyPr>
          <a:lstStyle/>
          <a:p>
            <a:pPr algn="l"/>
            <a:r>
              <a:rPr sz="1800" b="0" i="0">
                <a:solidFill>
                  <a:srgbClr val="1E1E1E"/>
                </a:solidFill>
              </a:rPr>
              <a:t>個人セールス（営業マン必要）と広告宣伝（営業マン不要）の間には、どちらも使えない「デッドゾーン」が存在する。</a:t>
            </a:r>
          </a:p>
        </p:txBody>
      </p:sp>
      <p:sp>
        <p:nvSpPr>
          <p:cNvPr id="8" name="Rectangle 7"/>
          <p:cNvSpPr/>
          <p:nvPr/>
        </p:nvSpPr>
        <p:spPr>
          <a:xfrm>
            <a:off x="594360" y="2359152"/>
            <a:ext cx="11000232" cy="18288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404872"/>
            <a:ext cx="10515600" cy="438912"/>
          </a:xfrm>
          <a:prstGeom prst="rect">
            <a:avLst/>
          </a:prstGeom>
          <a:noFill/>
        </p:spPr>
        <p:txBody>
          <a:bodyPr wrap="square">
            <a:spAutoFit/>
          </a:bodyPr>
          <a:lstStyle/>
          <a:p>
            <a:pPr algn="l"/>
            <a:r>
              <a:rPr sz="1500" b="1" i="0">
                <a:solidFill>
                  <a:srgbClr val="880000"/>
                </a:solidFill>
              </a:rPr>
              <a:t>デッドゾーンの例：コンビニ向け在庫管理ソフト（年1,000ドル）</a:t>
            </a:r>
          </a:p>
        </p:txBody>
      </p:sp>
      <p:sp>
        <p:nvSpPr>
          <p:cNvPr id="10" name="TextBox 9"/>
          <p:cNvSpPr txBox="1"/>
          <p:nvPr/>
        </p:nvSpPr>
        <p:spPr>
          <a:xfrm>
            <a:off x="822960" y="2852928"/>
            <a:ext cx="10515600" cy="1234440"/>
          </a:xfrm>
          <a:prstGeom prst="rect">
            <a:avLst/>
          </a:prstGeom>
          <a:noFill/>
        </p:spPr>
        <p:txBody>
          <a:bodyPr wrap="square">
            <a:spAutoFit/>
          </a:bodyPr>
          <a:lstStyle/>
          <a:p>
            <a:pPr algn="l"/>
            <a:r>
              <a:rPr sz="1500" b="0" i="0">
                <a:solidFill>
                  <a:srgbClr val="1E1E1E"/>
                </a:solidFill>
              </a:rPr>
              <a:t>広告：コンビニオーナーだけ見るチャンネルはない。専門誌広告で1,000ドル商品を買う人もいない
個人セールス：単価が低すぎて訪問営業のコストが回収できない
→ 大企業では当たり前のツールが中小企業に届かないのは、販売チャネルがボトルネックだから</a:t>
            </a:r>
          </a:p>
        </p:txBody>
      </p:sp>
      <p:sp>
        <p:nvSpPr>
          <p:cNvPr id="11" name="TextBox 10"/>
          <p:cNvSpPr txBox="1"/>
          <p:nvPr/>
        </p:nvSpPr>
        <p:spPr>
          <a:xfrm>
            <a:off x="640080" y="4297680"/>
            <a:ext cx="10972800" cy="384048"/>
          </a:xfrm>
          <a:prstGeom prst="rect">
            <a:avLst/>
          </a:prstGeom>
          <a:noFill/>
        </p:spPr>
        <p:txBody>
          <a:bodyPr wrap="square">
            <a:spAutoFit/>
          </a:bodyPr>
          <a:lstStyle/>
          <a:p>
            <a:pPr algn="l"/>
            <a:r>
              <a:rPr sz="1400" b="1" i="0">
                <a:solidFill>
                  <a:srgbClr val="555555"/>
                </a:solidFill>
              </a:rPr>
              <a:t>べき乗則：有効な販売チャネルを1つ持てるかどうかがすべて</a:t>
            </a:r>
          </a:p>
        </p:txBody>
      </p:sp>
      <p:sp>
        <p:nvSpPr>
          <p:cNvPr id="12" name="TextBox 11"/>
          <p:cNvSpPr txBox="1"/>
          <p:nvPr/>
        </p:nvSpPr>
        <p:spPr>
          <a:xfrm>
            <a:off x="640080" y="4709160"/>
            <a:ext cx="10515600" cy="502920"/>
          </a:xfrm>
          <a:prstGeom prst="rect">
            <a:avLst/>
          </a:prstGeom>
          <a:noFill/>
        </p:spPr>
        <p:txBody>
          <a:bodyPr wrap="square">
            <a:spAutoFit/>
          </a:bodyPr>
          <a:lstStyle/>
          <a:p>
            <a:pPr algn="l"/>
            <a:r>
              <a:rPr sz="1800" b="0" i="0">
                <a:solidFill>
                  <a:srgbClr val="1E1E1E"/>
                </a:solidFill>
              </a:rPr>
              <a:t>• 複数のチャネルを試してどれもものにできなければ、そこで終わりになることが多い</a:t>
            </a:r>
          </a:p>
        </p:txBody>
      </p:sp>
      <p:sp>
        <p:nvSpPr>
          <p:cNvPr id="13" name="TextBox 12"/>
          <p:cNvSpPr txBox="1"/>
          <p:nvPr/>
        </p:nvSpPr>
        <p:spPr>
          <a:xfrm>
            <a:off x="640080" y="5166360"/>
            <a:ext cx="10515600" cy="502920"/>
          </a:xfrm>
          <a:prstGeom prst="rect">
            <a:avLst/>
          </a:prstGeom>
          <a:noFill/>
        </p:spPr>
        <p:txBody>
          <a:bodyPr wrap="square">
            <a:spAutoFit/>
          </a:bodyPr>
          <a:lstStyle/>
          <a:p>
            <a:pPr algn="l"/>
            <a:r>
              <a:rPr sz="1800" b="0" i="0">
                <a:solidFill>
                  <a:srgbClr val="1E1E1E"/>
                </a:solidFill>
              </a:rPr>
              <a:t>• いちばんよくある失敗の原因はダメなプロダクトではなく、下手な営業（=販売チャネルの欠如）</a:t>
            </a:r>
          </a:p>
        </p:txBody>
      </p:sp>
      <p:sp>
        <p:nvSpPr>
          <p:cNvPr id="14" name="Rectangle 13"/>
          <p:cNvSpPr/>
          <p:nvPr/>
        </p:nvSpPr>
        <p:spPr>
          <a:xfrm>
            <a:off x="640080" y="5760720"/>
            <a:ext cx="10607040" cy="594360"/>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5870448"/>
            <a:ext cx="10241280" cy="374904"/>
          </a:xfrm>
          <a:prstGeom prst="rect">
            <a:avLst/>
          </a:prstGeom>
          <a:noFill/>
        </p:spPr>
        <p:txBody>
          <a:bodyPr wrap="square">
            <a:spAutoFit/>
          </a:bodyPr>
          <a:lstStyle/>
          <a:p>
            <a:pPr algn="l"/>
            <a:r>
              <a:rPr sz="1700" b="0" i="0">
                <a:solidFill>
                  <a:srgbClr val="1E1E1E"/>
                </a:solidFill>
              </a:rPr>
              <a:t>「有効な販売チャネルがひとつでも手に入れば、ビジネスは成功する」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まとめ — 11章を読んで</a:t>
            </a:r>
          </a:p>
        </p:txBody>
      </p:sp>
      <p:sp>
        <p:nvSpPr>
          <p:cNvPr id="5" name="TextBox 4"/>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自分の理解と印象</a:t>
            </a:r>
          </a:p>
        </p:txBody>
      </p:sp>
      <p:sp>
        <p:nvSpPr>
          <p:cNvPr id="6" name="Rectangle 5"/>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719072"/>
            <a:ext cx="365760" cy="7315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56231"/>
            <a:ext cx="365760" cy="457200"/>
          </a:xfrm>
          <a:prstGeom prst="rect">
            <a:avLst/>
          </a:prstGeom>
          <a:noFill/>
        </p:spPr>
        <p:txBody>
          <a:bodyPr wrap="square">
            <a:spAutoFit/>
          </a:bodyPr>
          <a:lstStyle/>
          <a:p>
            <a:pPr algn="ctr"/>
            <a:r>
              <a:rPr sz="1700" b="1" i="0">
                <a:solidFill>
                  <a:srgbClr val="FFFFFF"/>
                </a:solidFill>
              </a:rPr>
              <a:t>1</a:t>
            </a:r>
          </a:p>
        </p:txBody>
      </p:sp>
      <p:sp>
        <p:nvSpPr>
          <p:cNvPr id="9" name="Rectangle 8"/>
          <p:cNvSpPr/>
          <p:nvPr/>
        </p:nvSpPr>
        <p:spPr>
          <a:xfrm>
            <a:off x="1005840" y="1719072"/>
            <a:ext cx="10588752" cy="7315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1856231"/>
            <a:ext cx="10241280" cy="548640"/>
          </a:xfrm>
          <a:prstGeom prst="rect">
            <a:avLst/>
          </a:prstGeom>
          <a:noFill/>
        </p:spPr>
        <p:txBody>
          <a:bodyPr wrap="square">
            <a:spAutoFit/>
          </a:bodyPr>
          <a:lstStyle/>
          <a:p>
            <a:pPr algn="l"/>
            <a:r>
              <a:rPr sz="1600" b="0" i="0">
                <a:solidFill>
                  <a:srgbClr val="1E1E1E"/>
                </a:solidFill>
              </a:rPr>
              <a:t>「作れば売れる」は幻想。販売はプロダクト設計の一部であり、後付けで足せるものではない</a:t>
            </a:r>
          </a:p>
        </p:txBody>
      </p:sp>
      <p:sp>
        <p:nvSpPr>
          <p:cNvPr id="11" name="Rectangle 10"/>
          <p:cNvSpPr/>
          <p:nvPr/>
        </p:nvSpPr>
        <p:spPr>
          <a:xfrm>
            <a:off x="594360" y="2651760"/>
            <a:ext cx="365760" cy="7315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788920"/>
            <a:ext cx="365760" cy="457200"/>
          </a:xfrm>
          <a:prstGeom prst="rect">
            <a:avLst/>
          </a:prstGeom>
          <a:noFill/>
        </p:spPr>
        <p:txBody>
          <a:bodyPr wrap="square">
            <a:spAutoFit/>
          </a:bodyPr>
          <a:lstStyle/>
          <a:p>
            <a:pPr algn="ctr"/>
            <a:r>
              <a:rPr sz="1700" b="1" i="0">
                <a:solidFill>
                  <a:srgbClr val="FFFFFF"/>
                </a:solidFill>
              </a:rPr>
              <a:t>2</a:t>
            </a:r>
          </a:p>
        </p:txBody>
      </p:sp>
      <p:sp>
        <p:nvSpPr>
          <p:cNvPr id="13" name="Rectangle 12"/>
          <p:cNvSpPr/>
          <p:nvPr/>
        </p:nvSpPr>
        <p:spPr>
          <a:xfrm>
            <a:off x="1005840" y="2651760"/>
            <a:ext cx="10588752" cy="7315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2788920"/>
            <a:ext cx="10241280" cy="548640"/>
          </a:xfrm>
          <a:prstGeom prst="rect">
            <a:avLst/>
          </a:prstGeom>
          <a:noFill/>
        </p:spPr>
        <p:txBody>
          <a:bodyPr wrap="square">
            <a:spAutoFit/>
          </a:bodyPr>
          <a:lstStyle/>
          <a:p>
            <a:pPr algn="l"/>
            <a:r>
              <a:rPr sz="1600" b="0" i="0">
                <a:solidFill>
                  <a:srgbClr val="1E1E1E"/>
                </a:solidFill>
              </a:rPr>
              <a:t>一流のセールスはセールスに見えない。政治家も投資銀行家も、肩書きを変えた営業マンだ</a:t>
            </a:r>
          </a:p>
        </p:txBody>
      </p:sp>
      <p:sp>
        <p:nvSpPr>
          <p:cNvPr id="15" name="Rectangle 14"/>
          <p:cNvSpPr/>
          <p:nvPr/>
        </p:nvSpPr>
        <p:spPr>
          <a:xfrm>
            <a:off x="594360" y="3584448"/>
            <a:ext cx="365760" cy="7315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721608"/>
            <a:ext cx="365760" cy="457200"/>
          </a:xfrm>
          <a:prstGeom prst="rect">
            <a:avLst/>
          </a:prstGeom>
          <a:noFill/>
        </p:spPr>
        <p:txBody>
          <a:bodyPr wrap="square">
            <a:spAutoFit/>
          </a:bodyPr>
          <a:lstStyle/>
          <a:p>
            <a:pPr algn="ctr"/>
            <a:r>
              <a:rPr sz="1700" b="1" i="0">
                <a:solidFill>
                  <a:srgbClr val="FFFFFF"/>
                </a:solidFill>
              </a:rPr>
              <a:t>3</a:t>
            </a:r>
          </a:p>
        </p:txBody>
      </p:sp>
      <p:sp>
        <p:nvSpPr>
          <p:cNvPr id="17" name="Rectangle 16"/>
          <p:cNvSpPr/>
          <p:nvPr/>
        </p:nvSpPr>
        <p:spPr>
          <a:xfrm>
            <a:off x="1005840" y="3584448"/>
            <a:ext cx="10588752" cy="7315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3721608"/>
            <a:ext cx="10241280" cy="548640"/>
          </a:xfrm>
          <a:prstGeom prst="rect">
            <a:avLst/>
          </a:prstGeom>
          <a:noFill/>
        </p:spPr>
        <p:txBody>
          <a:bodyPr wrap="square">
            <a:spAutoFit/>
          </a:bodyPr>
          <a:lstStyle/>
          <a:p>
            <a:pPr algn="l"/>
            <a:r>
              <a:rPr sz="1600" b="0" i="0">
                <a:solidFill>
                  <a:srgbClr val="1E1E1E"/>
                </a:solidFill>
              </a:rPr>
              <a:t>製品単価に応じた販売手段（コンプレックス・個人・バイラル・広告）があり、それを間違えると価値があっても届かない</a:t>
            </a:r>
          </a:p>
        </p:txBody>
      </p:sp>
      <p:sp>
        <p:nvSpPr>
          <p:cNvPr id="19" name="Rectangle 18"/>
          <p:cNvSpPr/>
          <p:nvPr/>
        </p:nvSpPr>
        <p:spPr>
          <a:xfrm>
            <a:off x="594360" y="4517136"/>
            <a:ext cx="365760" cy="7315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54296"/>
            <a:ext cx="365760" cy="457200"/>
          </a:xfrm>
          <a:prstGeom prst="rect">
            <a:avLst/>
          </a:prstGeom>
          <a:noFill/>
        </p:spPr>
        <p:txBody>
          <a:bodyPr wrap="square">
            <a:spAutoFit/>
          </a:bodyPr>
          <a:lstStyle/>
          <a:p>
            <a:pPr algn="ctr"/>
            <a:r>
              <a:rPr sz="1700" b="1" i="0">
                <a:solidFill>
                  <a:srgbClr val="FFFFFF"/>
                </a:solidFill>
              </a:rPr>
              <a:t>4</a:t>
            </a:r>
          </a:p>
        </p:txBody>
      </p:sp>
      <p:sp>
        <p:nvSpPr>
          <p:cNvPr id="21" name="Rectangle 20"/>
          <p:cNvSpPr/>
          <p:nvPr/>
        </p:nvSpPr>
        <p:spPr>
          <a:xfrm>
            <a:off x="1005840" y="4517136"/>
            <a:ext cx="10588752" cy="7315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4654296"/>
            <a:ext cx="10241280" cy="548640"/>
          </a:xfrm>
          <a:prstGeom prst="rect">
            <a:avLst/>
          </a:prstGeom>
          <a:noFill/>
        </p:spPr>
        <p:txBody>
          <a:bodyPr wrap="square">
            <a:spAutoFit/>
          </a:bodyPr>
          <a:lstStyle/>
          <a:p>
            <a:pPr algn="l"/>
            <a:r>
              <a:rPr sz="1600" b="0" i="0">
                <a:solidFill>
                  <a:srgbClr val="1E1E1E"/>
                </a:solidFill>
              </a:rPr>
              <a:t>有効な販売チャネルを1つ持てるかどうかがすべて。デッドゾーンに入った製品はどれほど良くても広まらない</a:t>
            </a:r>
          </a:p>
        </p:txBody>
      </p:sp>
      <p:sp>
        <p:nvSpPr>
          <p:cNvPr id="23" name="Rectangle 22"/>
          <p:cNvSpPr/>
          <p:nvPr/>
        </p:nvSpPr>
        <p:spPr>
          <a:xfrm>
            <a:off x="594360" y="5449824"/>
            <a:ext cx="365760" cy="7315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586984"/>
            <a:ext cx="365760" cy="457200"/>
          </a:xfrm>
          <a:prstGeom prst="rect">
            <a:avLst/>
          </a:prstGeom>
          <a:noFill/>
        </p:spPr>
        <p:txBody>
          <a:bodyPr wrap="square">
            <a:spAutoFit/>
          </a:bodyPr>
          <a:lstStyle/>
          <a:p>
            <a:pPr algn="ctr"/>
            <a:r>
              <a:rPr sz="1700" b="1" i="0">
                <a:solidFill>
                  <a:srgbClr val="FFFFFF"/>
                </a:solidFill>
              </a:rPr>
              <a:t>5</a:t>
            </a:r>
          </a:p>
        </p:txBody>
      </p:sp>
      <p:sp>
        <p:nvSpPr>
          <p:cNvPr id="25" name="Rectangle 24"/>
          <p:cNvSpPr/>
          <p:nvPr/>
        </p:nvSpPr>
        <p:spPr>
          <a:xfrm>
            <a:off x="1005840" y="5449824"/>
            <a:ext cx="10588752" cy="7315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43000" y="5586984"/>
            <a:ext cx="10241280" cy="548640"/>
          </a:xfrm>
          <a:prstGeom prst="rect">
            <a:avLst/>
          </a:prstGeom>
          <a:noFill/>
        </p:spPr>
        <p:txBody>
          <a:bodyPr wrap="square">
            <a:spAutoFit/>
          </a:bodyPr>
          <a:lstStyle/>
          <a:p>
            <a:pPr algn="l"/>
            <a:r>
              <a:rPr sz="1600" b="0" i="0">
                <a:solidFill>
                  <a:srgbClr val="1E1E1E"/>
                </a:solidFill>
              </a:rPr>
              <a:t>社員・投資家・マスコミへの売り込みも必要。「営業マンがいないなら、自分が営業マンだ」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