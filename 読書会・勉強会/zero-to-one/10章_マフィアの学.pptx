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72800" cy="457200"/>
          </a:xfrm>
          <a:prstGeom prst="rect">
            <a:avLst/>
          </a:prstGeom>
          <a:noFill/>
        </p:spPr>
        <p:txBody>
          <a:bodyPr wrap="square">
            <a:spAutoFit/>
          </a:bodyPr>
          <a:lstStyle/>
          <a:p>
            <a:pPr algn="l"/>
            <a:r>
              <a:rPr sz="1600" b="0" i="0">
                <a:solidFill>
                  <a:srgbClr val="555555"/>
                </a:solidFill>
              </a:rPr>
              <a:t>Zero to One  第10章</a:t>
            </a:r>
          </a:p>
        </p:txBody>
      </p:sp>
      <p:sp>
        <p:nvSpPr>
          <p:cNvPr id="5" name="TextBox 4"/>
          <p:cNvSpPr txBox="1"/>
          <p:nvPr/>
        </p:nvSpPr>
        <p:spPr>
          <a:xfrm>
            <a:off x="640080" y="566928"/>
            <a:ext cx="10972800" cy="914400"/>
          </a:xfrm>
          <a:prstGeom prst="rect">
            <a:avLst/>
          </a:prstGeom>
          <a:noFill/>
        </p:spPr>
        <p:txBody>
          <a:bodyPr wrap="square">
            <a:spAutoFit/>
          </a:bodyPr>
          <a:lstStyle/>
          <a:p>
            <a:pPr algn="l"/>
            <a:r>
              <a:rPr sz="4600" b="1" i="0">
                <a:solidFill>
                  <a:srgbClr val="1A2E5C"/>
                </a:solidFill>
              </a:rPr>
              <a:t>マフィアの学</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058400" cy="384048"/>
          </a:xfrm>
          <a:prstGeom prst="rect">
            <a:avLst/>
          </a:prstGeom>
          <a:noFill/>
        </p:spPr>
        <p:txBody>
          <a:bodyPr wrap="square">
            <a:spAutoFit/>
          </a:bodyPr>
          <a:lstStyle/>
          <a:p>
            <a:pPr algn="l"/>
            <a:r>
              <a:rPr sz="1400" b="1" i="0">
                <a:solidFill>
                  <a:srgbClr val="008B8B"/>
                </a:solidFill>
              </a:rPr>
              <a:t>この章が伝えること</a:t>
            </a:r>
          </a:p>
        </p:txBody>
      </p:sp>
      <p:sp>
        <p:nvSpPr>
          <p:cNvPr id="8" name="Rectangle 7"/>
          <p:cNvSpPr/>
          <p:nvPr/>
        </p:nvSpPr>
        <p:spPr>
          <a:xfrm>
            <a:off x="640080" y="1920240"/>
            <a:ext cx="10607040" cy="1188720"/>
          </a:xfrm>
          <a:prstGeom prst="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10058400" cy="1097280"/>
          </a:xfrm>
          <a:prstGeom prst="rect">
            <a:avLst/>
          </a:prstGeom>
          <a:noFill/>
        </p:spPr>
        <p:txBody>
          <a:bodyPr wrap="square">
            <a:spAutoFit/>
          </a:bodyPr>
          <a:lstStyle/>
          <a:p>
            <a:pPr algn="l"/>
            <a:r>
              <a:rPr sz="1800" b="0" i="0">
                <a:solidFill>
                  <a:srgbClr val="1E1E1E"/>
                </a:solidFill>
              </a:rPr>
              <a:t>良い企業文化とは、ヨガ教室やマッサージではない。
使命を共有する人びとの集まりそのものが文化であり、スタートアップはその体現だ。</a:t>
            </a:r>
          </a:p>
        </p:txBody>
      </p:sp>
      <p:sp>
        <p:nvSpPr>
          <p:cNvPr id="10" name="TextBox 9"/>
          <p:cNvSpPr txBox="1"/>
          <p:nvPr/>
        </p:nvSpPr>
        <p:spPr>
          <a:xfrm>
            <a:off x="640080" y="3246120"/>
            <a:ext cx="10972800" cy="365760"/>
          </a:xfrm>
          <a:prstGeom prst="rect">
            <a:avLst/>
          </a:prstGeom>
          <a:noFill/>
        </p:spPr>
        <p:txBody>
          <a:bodyPr wrap="square">
            <a:spAutoFit/>
          </a:bodyPr>
          <a:lstStyle/>
          <a:p>
            <a:pPr algn="l"/>
            <a:r>
              <a:rPr sz="1400" b="1" i="0">
                <a:solidFill>
                  <a:srgbClr val="555555"/>
                </a:solidFill>
              </a:rPr>
              <a:t>この章で扱うテーマ</a:t>
            </a:r>
          </a:p>
        </p:txBody>
      </p:sp>
      <p:sp>
        <p:nvSpPr>
          <p:cNvPr id="11" name="Rectangle 10"/>
          <p:cNvSpPr/>
          <p:nvPr/>
        </p:nvSpPr>
        <p:spPr>
          <a:xfrm>
            <a:off x="594360"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703320"/>
            <a:ext cx="1883663" cy="457200"/>
          </a:xfrm>
          <a:prstGeom prst="rect">
            <a:avLst/>
          </a:prstGeom>
          <a:noFill/>
        </p:spPr>
        <p:txBody>
          <a:bodyPr wrap="square">
            <a:spAutoFit/>
          </a:bodyPr>
          <a:lstStyle/>
          <a:p>
            <a:pPr algn="l"/>
            <a:r>
              <a:rPr sz="1500" b="1" i="0">
                <a:solidFill>
                  <a:srgbClr val="1A2E5C"/>
                </a:solidFill>
              </a:rPr>
              <a:t>ペイパル・マフィア</a:t>
            </a:r>
          </a:p>
        </p:txBody>
      </p:sp>
      <p:sp>
        <p:nvSpPr>
          <p:cNvPr id="13" name="TextBox 12"/>
          <p:cNvSpPr txBox="1"/>
          <p:nvPr/>
        </p:nvSpPr>
        <p:spPr>
          <a:xfrm>
            <a:off x="704088" y="4206240"/>
            <a:ext cx="1883663" cy="777240"/>
          </a:xfrm>
          <a:prstGeom prst="rect">
            <a:avLst/>
          </a:prstGeom>
          <a:noFill/>
        </p:spPr>
        <p:txBody>
          <a:bodyPr wrap="square">
            <a:spAutoFit/>
          </a:bodyPr>
          <a:lstStyle/>
          <a:p>
            <a:pPr algn="l"/>
            <a:r>
              <a:rPr sz="1300" b="0" i="0">
                <a:solidFill>
                  <a:srgbClr val="555555"/>
                </a:solidFill>
              </a:rPr>
              <a:t>共通の使命が生んだ
連鎖的な成功</a:t>
            </a:r>
          </a:p>
        </p:txBody>
      </p:sp>
      <p:sp>
        <p:nvSpPr>
          <p:cNvPr id="14" name="Rectangle 13"/>
          <p:cNvSpPr/>
          <p:nvPr/>
        </p:nvSpPr>
        <p:spPr>
          <a:xfrm>
            <a:off x="2770632"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3703320"/>
            <a:ext cx="1883663" cy="457200"/>
          </a:xfrm>
          <a:prstGeom prst="rect">
            <a:avLst/>
          </a:prstGeom>
          <a:noFill/>
        </p:spPr>
        <p:txBody>
          <a:bodyPr wrap="square">
            <a:spAutoFit/>
          </a:bodyPr>
          <a:lstStyle/>
          <a:p>
            <a:pPr algn="l"/>
            <a:r>
              <a:rPr sz="1500" b="1" i="0">
                <a:solidFill>
                  <a:srgbClr val="1A2E5C"/>
                </a:solidFill>
              </a:rPr>
              <a:t>共謀者を採用する</a:t>
            </a:r>
          </a:p>
        </p:txBody>
      </p:sp>
      <p:sp>
        <p:nvSpPr>
          <p:cNvPr id="16" name="TextBox 15"/>
          <p:cNvSpPr txBox="1"/>
          <p:nvPr/>
        </p:nvSpPr>
        <p:spPr>
          <a:xfrm>
            <a:off x="2880360" y="4206240"/>
            <a:ext cx="1883663" cy="777240"/>
          </a:xfrm>
          <a:prstGeom prst="rect">
            <a:avLst/>
          </a:prstGeom>
          <a:noFill/>
        </p:spPr>
        <p:txBody>
          <a:bodyPr wrap="square">
            <a:spAutoFit/>
          </a:bodyPr>
          <a:lstStyle/>
          <a:p>
            <a:pPr algn="l"/>
            <a:r>
              <a:rPr sz="1300" b="0" i="0">
                <a:solidFill>
                  <a:srgbClr val="555555"/>
                </a:solidFill>
              </a:rPr>
              <a:t>使命とチームへの
共感が採用の軸</a:t>
            </a:r>
          </a:p>
        </p:txBody>
      </p:sp>
      <p:sp>
        <p:nvSpPr>
          <p:cNvPr id="17" name="Rectangle 16"/>
          <p:cNvSpPr/>
          <p:nvPr/>
        </p:nvSpPr>
        <p:spPr>
          <a:xfrm>
            <a:off x="4946904"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56632" y="3703320"/>
            <a:ext cx="1883663" cy="457200"/>
          </a:xfrm>
          <a:prstGeom prst="rect">
            <a:avLst/>
          </a:prstGeom>
          <a:noFill/>
        </p:spPr>
        <p:txBody>
          <a:bodyPr wrap="square">
            <a:spAutoFit/>
          </a:bodyPr>
          <a:lstStyle/>
          <a:p>
            <a:pPr algn="l"/>
            <a:r>
              <a:rPr sz="1500" b="1" i="0">
                <a:solidFill>
                  <a:srgbClr val="1A2E5C"/>
                </a:solidFill>
              </a:rPr>
              <a:t>同じように違う</a:t>
            </a:r>
          </a:p>
        </p:txBody>
      </p:sp>
      <p:sp>
        <p:nvSpPr>
          <p:cNvPr id="19" name="TextBox 18"/>
          <p:cNvSpPr txBox="1"/>
          <p:nvPr/>
        </p:nvSpPr>
        <p:spPr>
          <a:xfrm>
            <a:off x="5056632" y="4206240"/>
            <a:ext cx="1883663" cy="777240"/>
          </a:xfrm>
          <a:prstGeom prst="rect">
            <a:avLst/>
          </a:prstGeom>
          <a:noFill/>
        </p:spPr>
        <p:txBody>
          <a:bodyPr wrap="square">
            <a:spAutoFit/>
          </a:bodyPr>
          <a:lstStyle/>
          <a:p>
            <a:pPr algn="l"/>
            <a:r>
              <a:rPr sz="1300" b="0" i="0">
                <a:solidFill>
                  <a:srgbClr val="555555"/>
                </a:solidFill>
              </a:rPr>
              <a:t>初期チームに必要な
「取り憑かれ方の共有」</a:t>
            </a:r>
          </a:p>
        </p:txBody>
      </p:sp>
      <p:sp>
        <p:nvSpPr>
          <p:cNvPr id="20" name="Rectangle 19"/>
          <p:cNvSpPr/>
          <p:nvPr/>
        </p:nvSpPr>
        <p:spPr>
          <a:xfrm>
            <a:off x="7123176"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4" y="3703320"/>
            <a:ext cx="1883663" cy="457200"/>
          </a:xfrm>
          <a:prstGeom prst="rect">
            <a:avLst/>
          </a:prstGeom>
          <a:noFill/>
        </p:spPr>
        <p:txBody>
          <a:bodyPr wrap="square">
            <a:spAutoFit/>
          </a:bodyPr>
          <a:lstStyle/>
          <a:p>
            <a:pPr algn="l"/>
            <a:r>
              <a:rPr sz="1500" b="1" i="0">
                <a:solidFill>
                  <a:srgbClr val="1A2E5C"/>
                </a:solidFill>
              </a:rPr>
              <a:t>ひとつの責任</a:t>
            </a:r>
          </a:p>
        </p:txBody>
      </p:sp>
      <p:sp>
        <p:nvSpPr>
          <p:cNvPr id="22" name="TextBox 21"/>
          <p:cNvSpPr txBox="1"/>
          <p:nvPr/>
        </p:nvSpPr>
        <p:spPr>
          <a:xfrm>
            <a:off x="7232904" y="4206240"/>
            <a:ext cx="1883663" cy="777240"/>
          </a:xfrm>
          <a:prstGeom prst="rect">
            <a:avLst/>
          </a:prstGeom>
          <a:noFill/>
        </p:spPr>
        <p:txBody>
          <a:bodyPr wrap="square">
            <a:spAutoFit/>
          </a:bodyPr>
          <a:lstStyle/>
          <a:p>
            <a:pPr algn="l"/>
            <a:r>
              <a:rPr sz="1300" b="0" i="0">
                <a:solidFill>
                  <a:srgbClr val="555555"/>
                </a:solidFill>
              </a:rPr>
              <a:t>役割の明確化が
社内平和を守る</a:t>
            </a:r>
          </a:p>
        </p:txBody>
      </p:sp>
      <p:sp>
        <p:nvSpPr>
          <p:cNvPr id="23" name="Rectangle 22"/>
          <p:cNvSpPr/>
          <p:nvPr/>
        </p:nvSpPr>
        <p:spPr>
          <a:xfrm>
            <a:off x="9299448" y="3611880"/>
            <a:ext cx="210312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9176" y="3703320"/>
            <a:ext cx="1883663" cy="457200"/>
          </a:xfrm>
          <a:prstGeom prst="rect">
            <a:avLst/>
          </a:prstGeom>
          <a:noFill/>
        </p:spPr>
        <p:txBody>
          <a:bodyPr wrap="square">
            <a:spAutoFit/>
          </a:bodyPr>
          <a:lstStyle/>
          <a:p>
            <a:pPr algn="l"/>
            <a:r>
              <a:rPr sz="1500" b="1" i="0">
                <a:solidFill>
                  <a:srgbClr val="1A2E5C"/>
                </a:solidFill>
              </a:rPr>
              <a:t>カルトとコンサルタント</a:t>
            </a:r>
          </a:p>
        </p:txBody>
      </p:sp>
      <p:sp>
        <p:nvSpPr>
          <p:cNvPr id="25" name="TextBox 24"/>
          <p:cNvSpPr txBox="1"/>
          <p:nvPr/>
        </p:nvSpPr>
        <p:spPr>
          <a:xfrm>
            <a:off x="9409176" y="4206240"/>
            <a:ext cx="1883663" cy="777240"/>
          </a:xfrm>
          <a:prstGeom prst="rect">
            <a:avLst/>
          </a:prstGeom>
          <a:noFill/>
        </p:spPr>
        <p:txBody>
          <a:bodyPr wrap="square">
            <a:spAutoFit/>
          </a:bodyPr>
          <a:lstStyle/>
          <a:p>
            <a:pPr algn="l"/>
            <a:r>
              <a:rPr sz="1300" b="0" i="0">
                <a:solidFill>
                  <a:srgbClr val="555555"/>
                </a:solidFill>
              </a:rPr>
              <a:t>隠れた真実への
正しい信仰こそ強さ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良い企業文化の本質</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ペイパル・マフィアとは何か</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PayPal退社後、元メンバーたちは次々と企業を立ち上げた。今日、いずれも10億ドル以上の価値を持つ。</a:t>
            </a:r>
          </a:p>
        </p:txBody>
      </p:sp>
      <p:sp>
        <p:nvSpPr>
          <p:cNvPr id="8" name="Rectangle 7"/>
          <p:cNvSpPr/>
          <p:nvPr/>
        </p:nvSpPr>
        <p:spPr>
          <a:xfrm>
            <a:off x="594360" y="2395728"/>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468880"/>
            <a:ext cx="3255263" cy="384048"/>
          </a:xfrm>
          <a:prstGeom prst="rect">
            <a:avLst/>
          </a:prstGeom>
          <a:noFill/>
        </p:spPr>
        <p:txBody>
          <a:bodyPr wrap="square">
            <a:spAutoFit/>
          </a:bodyPr>
          <a:lstStyle/>
          <a:p>
            <a:pPr algn="l"/>
            <a:r>
              <a:rPr sz="1400" b="1" i="0">
                <a:solidFill>
                  <a:srgbClr val="1A2E5C"/>
                </a:solidFill>
              </a:rPr>
              <a:t>イーロン・マスク</a:t>
            </a:r>
          </a:p>
        </p:txBody>
      </p:sp>
      <p:sp>
        <p:nvSpPr>
          <p:cNvPr id="10" name="TextBox 9"/>
          <p:cNvSpPr txBox="1"/>
          <p:nvPr/>
        </p:nvSpPr>
        <p:spPr>
          <a:xfrm>
            <a:off x="704088" y="2852928"/>
            <a:ext cx="3255263" cy="438912"/>
          </a:xfrm>
          <a:prstGeom prst="rect">
            <a:avLst/>
          </a:prstGeom>
          <a:noFill/>
        </p:spPr>
        <p:txBody>
          <a:bodyPr wrap="square">
            <a:spAutoFit/>
          </a:bodyPr>
          <a:lstStyle/>
          <a:p>
            <a:pPr algn="l"/>
            <a:r>
              <a:rPr sz="1300" b="0" i="0">
                <a:solidFill>
                  <a:srgbClr val="555555"/>
                </a:solidFill>
              </a:rPr>
              <a:t>SpaceX 創業 / Tesla 共同創業</a:t>
            </a:r>
          </a:p>
        </p:txBody>
      </p:sp>
      <p:sp>
        <p:nvSpPr>
          <p:cNvPr id="11" name="Rectangle 10"/>
          <p:cNvSpPr/>
          <p:nvPr/>
        </p:nvSpPr>
        <p:spPr>
          <a:xfrm>
            <a:off x="4197096" y="2395728"/>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06824" y="2468880"/>
            <a:ext cx="3255263" cy="384048"/>
          </a:xfrm>
          <a:prstGeom prst="rect">
            <a:avLst/>
          </a:prstGeom>
          <a:noFill/>
        </p:spPr>
        <p:txBody>
          <a:bodyPr wrap="square">
            <a:spAutoFit/>
          </a:bodyPr>
          <a:lstStyle/>
          <a:p>
            <a:pPr algn="l"/>
            <a:r>
              <a:rPr sz="1400" b="1" i="0">
                <a:solidFill>
                  <a:srgbClr val="1A2E5C"/>
                </a:solidFill>
              </a:rPr>
              <a:t>リード・ホフマン</a:t>
            </a:r>
          </a:p>
        </p:txBody>
      </p:sp>
      <p:sp>
        <p:nvSpPr>
          <p:cNvPr id="13" name="TextBox 12"/>
          <p:cNvSpPr txBox="1"/>
          <p:nvPr/>
        </p:nvSpPr>
        <p:spPr>
          <a:xfrm>
            <a:off x="4306824" y="2852928"/>
            <a:ext cx="3255263" cy="438912"/>
          </a:xfrm>
          <a:prstGeom prst="rect">
            <a:avLst/>
          </a:prstGeom>
          <a:noFill/>
        </p:spPr>
        <p:txBody>
          <a:bodyPr wrap="square">
            <a:spAutoFit/>
          </a:bodyPr>
          <a:lstStyle/>
          <a:p>
            <a:pPr algn="l"/>
            <a:r>
              <a:rPr sz="1300" b="0" i="0">
                <a:solidFill>
                  <a:srgbClr val="555555"/>
                </a:solidFill>
              </a:rPr>
              <a:t>LinkedIn 共同創業</a:t>
            </a:r>
          </a:p>
        </p:txBody>
      </p:sp>
      <p:sp>
        <p:nvSpPr>
          <p:cNvPr id="14" name="Rectangle 13"/>
          <p:cNvSpPr/>
          <p:nvPr/>
        </p:nvSpPr>
        <p:spPr>
          <a:xfrm>
            <a:off x="7799831" y="2395728"/>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59" y="2468880"/>
            <a:ext cx="3255263" cy="384048"/>
          </a:xfrm>
          <a:prstGeom prst="rect">
            <a:avLst/>
          </a:prstGeom>
          <a:noFill/>
        </p:spPr>
        <p:txBody>
          <a:bodyPr wrap="square">
            <a:spAutoFit/>
          </a:bodyPr>
          <a:lstStyle/>
          <a:p>
            <a:pPr algn="l"/>
            <a:r>
              <a:rPr sz="1400" b="1" i="0">
                <a:solidFill>
                  <a:srgbClr val="1A2E5C"/>
                </a:solidFill>
              </a:rPr>
              <a:t>スティーブ・チェン、ハーリー、カリム</a:t>
            </a:r>
          </a:p>
        </p:txBody>
      </p:sp>
      <p:sp>
        <p:nvSpPr>
          <p:cNvPr id="16" name="TextBox 15"/>
          <p:cNvSpPr txBox="1"/>
          <p:nvPr/>
        </p:nvSpPr>
        <p:spPr>
          <a:xfrm>
            <a:off x="7909559" y="2852928"/>
            <a:ext cx="3255263" cy="438912"/>
          </a:xfrm>
          <a:prstGeom prst="rect">
            <a:avLst/>
          </a:prstGeom>
          <a:noFill/>
        </p:spPr>
        <p:txBody>
          <a:bodyPr wrap="square">
            <a:spAutoFit/>
          </a:bodyPr>
          <a:lstStyle/>
          <a:p>
            <a:pPr algn="l"/>
            <a:r>
              <a:rPr sz="1300" b="0" i="0">
                <a:solidFill>
                  <a:srgbClr val="555555"/>
                </a:solidFill>
              </a:rPr>
              <a:t>YouTube 創業</a:t>
            </a:r>
          </a:p>
        </p:txBody>
      </p:sp>
      <p:sp>
        <p:nvSpPr>
          <p:cNvPr id="17" name="Rectangle 16"/>
          <p:cNvSpPr/>
          <p:nvPr/>
        </p:nvSpPr>
        <p:spPr>
          <a:xfrm>
            <a:off x="594360" y="3465576"/>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538728"/>
            <a:ext cx="3255263" cy="384048"/>
          </a:xfrm>
          <a:prstGeom prst="rect">
            <a:avLst/>
          </a:prstGeom>
          <a:noFill/>
        </p:spPr>
        <p:txBody>
          <a:bodyPr wrap="square">
            <a:spAutoFit/>
          </a:bodyPr>
          <a:lstStyle/>
          <a:p>
            <a:pPr algn="l"/>
            <a:r>
              <a:rPr sz="1400" b="1" i="0">
                <a:solidFill>
                  <a:srgbClr val="1A2E5C"/>
                </a:solidFill>
              </a:rPr>
              <a:t>ジェレミー・ストップルマン、シモンズ</a:t>
            </a:r>
          </a:p>
        </p:txBody>
      </p:sp>
      <p:sp>
        <p:nvSpPr>
          <p:cNvPr id="19" name="TextBox 18"/>
          <p:cNvSpPr txBox="1"/>
          <p:nvPr/>
        </p:nvSpPr>
        <p:spPr>
          <a:xfrm>
            <a:off x="704088" y="3922776"/>
            <a:ext cx="3255263" cy="438912"/>
          </a:xfrm>
          <a:prstGeom prst="rect">
            <a:avLst/>
          </a:prstGeom>
          <a:noFill/>
        </p:spPr>
        <p:txBody>
          <a:bodyPr wrap="square">
            <a:spAutoFit/>
          </a:bodyPr>
          <a:lstStyle/>
          <a:p>
            <a:pPr algn="l"/>
            <a:r>
              <a:rPr sz="1300" b="0" i="0">
                <a:solidFill>
                  <a:srgbClr val="555555"/>
                </a:solidFill>
              </a:rPr>
              <a:t>Yelp 創業</a:t>
            </a:r>
          </a:p>
        </p:txBody>
      </p:sp>
      <p:sp>
        <p:nvSpPr>
          <p:cNvPr id="20" name="Rectangle 19"/>
          <p:cNvSpPr/>
          <p:nvPr/>
        </p:nvSpPr>
        <p:spPr>
          <a:xfrm>
            <a:off x="4197096" y="3465576"/>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06824" y="3538728"/>
            <a:ext cx="3255263" cy="384048"/>
          </a:xfrm>
          <a:prstGeom prst="rect">
            <a:avLst/>
          </a:prstGeom>
          <a:noFill/>
        </p:spPr>
        <p:txBody>
          <a:bodyPr wrap="square">
            <a:spAutoFit/>
          </a:bodyPr>
          <a:lstStyle/>
          <a:p>
            <a:pPr algn="l"/>
            <a:r>
              <a:rPr sz="1400" b="1" i="0">
                <a:solidFill>
                  <a:srgbClr val="1A2E5C"/>
                </a:solidFill>
              </a:rPr>
              <a:t>デビッド・サックス</a:t>
            </a:r>
          </a:p>
        </p:txBody>
      </p:sp>
      <p:sp>
        <p:nvSpPr>
          <p:cNvPr id="22" name="TextBox 21"/>
          <p:cNvSpPr txBox="1"/>
          <p:nvPr/>
        </p:nvSpPr>
        <p:spPr>
          <a:xfrm>
            <a:off x="4306824" y="3922776"/>
            <a:ext cx="3255263" cy="438912"/>
          </a:xfrm>
          <a:prstGeom prst="rect">
            <a:avLst/>
          </a:prstGeom>
          <a:noFill/>
        </p:spPr>
        <p:txBody>
          <a:bodyPr wrap="square">
            <a:spAutoFit/>
          </a:bodyPr>
          <a:lstStyle/>
          <a:p>
            <a:pPr algn="l"/>
            <a:r>
              <a:rPr sz="1300" b="0" i="0">
                <a:solidFill>
                  <a:srgbClr val="555555"/>
                </a:solidFill>
              </a:rPr>
              <a:t>Yammer 創業</a:t>
            </a:r>
          </a:p>
        </p:txBody>
      </p:sp>
      <p:sp>
        <p:nvSpPr>
          <p:cNvPr id="23" name="Rectangle 22"/>
          <p:cNvSpPr/>
          <p:nvPr/>
        </p:nvSpPr>
        <p:spPr>
          <a:xfrm>
            <a:off x="7799831" y="3465576"/>
            <a:ext cx="3474720" cy="9601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59" y="3538728"/>
            <a:ext cx="3255263" cy="384048"/>
          </a:xfrm>
          <a:prstGeom prst="rect">
            <a:avLst/>
          </a:prstGeom>
          <a:noFill/>
        </p:spPr>
        <p:txBody>
          <a:bodyPr wrap="square">
            <a:spAutoFit/>
          </a:bodyPr>
          <a:lstStyle/>
          <a:p>
            <a:pPr algn="l"/>
            <a:r>
              <a:rPr sz="1400" b="1" i="0">
                <a:solidFill>
                  <a:srgbClr val="1A2E5C"/>
                </a:solidFill>
              </a:rPr>
              <a:t>ピーター・ティール</a:t>
            </a:r>
          </a:p>
        </p:txBody>
      </p:sp>
      <p:sp>
        <p:nvSpPr>
          <p:cNvPr id="25" name="TextBox 24"/>
          <p:cNvSpPr txBox="1"/>
          <p:nvPr/>
        </p:nvSpPr>
        <p:spPr>
          <a:xfrm>
            <a:off x="7909559" y="3922776"/>
            <a:ext cx="3255263" cy="438912"/>
          </a:xfrm>
          <a:prstGeom prst="rect">
            <a:avLst/>
          </a:prstGeom>
          <a:noFill/>
        </p:spPr>
        <p:txBody>
          <a:bodyPr wrap="square">
            <a:spAutoFit/>
          </a:bodyPr>
          <a:lstStyle/>
          <a:p>
            <a:pPr algn="l"/>
            <a:r>
              <a:rPr sz="1300" b="0" i="0">
                <a:solidFill>
                  <a:srgbClr val="555555"/>
                </a:solidFill>
              </a:rPr>
              <a:t>Palantir 共同創業</a:t>
            </a:r>
          </a:p>
        </p:txBody>
      </p:sp>
      <p:sp>
        <p:nvSpPr>
          <p:cNvPr id="26" name="Rectangle 25"/>
          <p:cNvSpPr/>
          <p:nvPr/>
        </p:nvSpPr>
        <p:spPr>
          <a:xfrm>
            <a:off x="640080" y="4572000"/>
            <a:ext cx="10607040" cy="68580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4663440"/>
            <a:ext cx="10241280" cy="502920"/>
          </a:xfrm>
          <a:prstGeom prst="rect">
            <a:avLst/>
          </a:prstGeom>
          <a:noFill/>
        </p:spPr>
        <p:txBody>
          <a:bodyPr wrap="square">
            <a:spAutoFit/>
          </a:bodyPr>
          <a:lstStyle/>
          <a:p>
            <a:pPr algn="l"/>
            <a:r>
              <a:rPr sz="1800" b="0" i="0">
                <a:solidFill>
                  <a:srgbClr val="1E1E1E"/>
                </a:solidFill>
              </a:rPr>
              <a:t>「ペイパルの福利厚生がマスコミの話題になることはなかったが、チームはグループでも個人でも非凡な成果を上げ続けた」</a:t>
            </a:r>
          </a:p>
        </p:txBody>
      </p:sp>
      <p:sp>
        <p:nvSpPr>
          <p:cNvPr id="28" name="TextBox 27"/>
          <p:cNvSpPr txBox="1"/>
          <p:nvPr/>
        </p:nvSpPr>
        <p:spPr>
          <a:xfrm>
            <a:off x="640080" y="5349240"/>
            <a:ext cx="10515600" cy="457200"/>
          </a:xfrm>
          <a:prstGeom prst="rect">
            <a:avLst/>
          </a:prstGeom>
          <a:noFill/>
        </p:spPr>
        <p:txBody>
          <a:bodyPr wrap="square">
            <a:spAutoFit/>
          </a:bodyPr>
          <a:lstStyle/>
          <a:p>
            <a:pPr algn="l"/>
            <a:r>
              <a:rPr sz="1700" b="1" i="0">
                <a:solidFill>
                  <a:srgbClr val="1A2E5C"/>
                </a:solidFill>
              </a:rPr>
              <a:t>福利厚生ではなく使命の共有が、PayPal退社後も個々の挑戦を支え続けた。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仕事を超えた関係</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NY弁護士事務所との対比</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ティールはNYの弁護士事務所で「仕事だけの関係」を目の当たりにした。優秀でも希薄——それはスタートアップの対極だ。</a:t>
            </a:r>
          </a:p>
        </p:txBody>
      </p:sp>
      <p:sp>
        <p:nvSpPr>
          <p:cNvPr id="8" name="Rectangle 7"/>
          <p:cNvSpPr/>
          <p:nvPr/>
        </p:nvSpPr>
        <p:spPr>
          <a:xfrm>
            <a:off x="594360" y="2377440"/>
            <a:ext cx="5212080" cy="34747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23160"/>
            <a:ext cx="4846320" cy="411480"/>
          </a:xfrm>
          <a:prstGeom prst="rect">
            <a:avLst/>
          </a:prstGeom>
          <a:noFill/>
        </p:spPr>
        <p:txBody>
          <a:bodyPr wrap="square">
            <a:spAutoFit/>
          </a:bodyPr>
          <a:lstStyle/>
          <a:p>
            <a:pPr algn="l"/>
            <a:r>
              <a:rPr sz="1500" b="1" i="0">
                <a:solidFill>
                  <a:srgbClr val="880000"/>
                </a:solidFill>
              </a:rPr>
              <a:t>✗  NY弁護士事務所</a:t>
            </a:r>
          </a:p>
        </p:txBody>
      </p:sp>
      <p:sp>
        <p:nvSpPr>
          <p:cNvPr id="10" name="TextBox 9"/>
          <p:cNvSpPr txBox="1"/>
          <p:nvPr/>
        </p:nvSpPr>
        <p:spPr>
          <a:xfrm>
            <a:off x="777240" y="2880360"/>
            <a:ext cx="4846320" cy="2834640"/>
          </a:xfrm>
          <a:prstGeom prst="rect">
            <a:avLst/>
          </a:prstGeom>
          <a:noFill/>
        </p:spPr>
        <p:txBody>
          <a:bodyPr wrap="square">
            <a:spAutoFit/>
          </a:bodyPr>
          <a:lstStyle/>
          <a:p>
            <a:pPr algn="l"/>
            <a:r>
              <a:rPr sz="1500" b="0" i="0">
                <a:solidFill>
                  <a:srgbClr val="1E1E1E"/>
                </a:solidFill>
              </a:rPr>
              <a:t>• 一人ひとりは並外れて優秀
• 一日中同じ場所にいるのに
  事務所を出ると話すことがない
• 案件ごとに関係がリセットされる
• 「金を稼ぐために仕方ない犠牲」</a:t>
            </a:r>
          </a:p>
        </p:txBody>
      </p:sp>
      <p:sp>
        <p:nvSpPr>
          <p:cNvPr id="11" name="Rectangle 10"/>
          <p:cNvSpPr/>
          <p:nvPr/>
        </p:nvSpPr>
        <p:spPr>
          <a:xfrm>
            <a:off x="6382512" y="2377440"/>
            <a:ext cx="5212080" cy="3474720"/>
          </a:xfrm>
          <a:prstGeom prst="rect">
            <a:avLst/>
          </a:prstGeom>
          <a:solidFill>
            <a:srgbClr val="E8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2423160"/>
            <a:ext cx="4846320" cy="411480"/>
          </a:xfrm>
          <a:prstGeom prst="rect">
            <a:avLst/>
          </a:prstGeom>
          <a:noFill/>
        </p:spPr>
        <p:txBody>
          <a:bodyPr wrap="square">
            <a:spAutoFit/>
          </a:bodyPr>
          <a:lstStyle/>
          <a:p>
            <a:pPr algn="l"/>
            <a:r>
              <a:rPr sz="1500" b="1" i="0">
                <a:solidFill>
                  <a:srgbClr val="006B3C"/>
                </a:solidFill>
              </a:rPr>
              <a:t>✓  PayPal</a:t>
            </a:r>
          </a:p>
        </p:txBody>
      </p:sp>
      <p:sp>
        <p:nvSpPr>
          <p:cNvPr id="13" name="TextBox 12"/>
          <p:cNvSpPr txBox="1"/>
          <p:nvPr/>
        </p:nvSpPr>
        <p:spPr>
          <a:xfrm>
            <a:off x="6565392" y="2880360"/>
            <a:ext cx="4846320" cy="2834640"/>
          </a:xfrm>
          <a:prstGeom prst="rect">
            <a:avLst/>
          </a:prstGeom>
          <a:noFill/>
        </p:spPr>
        <p:txBody>
          <a:bodyPr wrap="square">
            <a:spAutoFit/>
          </a:bodyPr>
          <a:lstStyle/>
          <a:p>
            <a:pPr algn="l"/>
            <a:r>
              <a:rPr sz="1500" b="0" i="0">
                <a:solidFill>
                  <a:srgbClr val="1E1E1E"/>
                </a:solidFill>
              </a:rPr>
              <a:t>• 退社後も連鎖的に起業・投資
• 職場を超えた長期的な関係
• デジタル通貨という使命を共有
• 「時間は最大の資産。長続きする
  関係に使うことが合理的」</a:t>
            </a:r>
          </a:p>
        </p:txBody>
      </p:sp>
      <p:sp>
        <p:nvSpPr>
          <p:cNvPr id="14" name="Rectangle 13"/>
          <p:cNvSpPr/>
          <p:nvPr/>
        </p:nvSpPr>
        <p:spPr>
          <a:xfrm>
            <a:off x="594360" y="5943600"/>
            <a:ext cx="11000232" cy="59436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035040"/>
            <a:ext cx="10634472" cy="411480"/>
          </a:xfrm>
          <a:prstGeom prst="rect">
            <a:avLst/>
          </a:prstGeom>
          <a:noFill/>
        </p:spPr>
        <p:txBody>
          <a:bodyPr wrap="square">
            <a:spAutoFit/>
          </a:bodyPr>
          <a:lstStyle/>
          <a:p>
            <a:pPr algn="l"/>
            <a:r>
              <a:rPr sz="1800" b="0" i="0">
                <a:solidFill>
                  <a:srgbClr val="1E1E1E"/>
                </a:solidFill>
              </a:rPr>
              <a:t>「好きでもない相手とどうして一緒に働くのか？ずっと一緒にいたいと思えない人たちのために時間を使うのはおかしい」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採用</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共謀者を採用する</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採用は企業の核。決して外部に委託してはいけない。Googleより高給で雇える優秀な人材が、なぜ君の会社を選ぶのか？</a:t>
            </a:r>
          </a:p>
        </p:txBody>
      </p:sp>
      <p:sp>
        <p:nvSpPr>
          <p:cNvPr id="8" name="Rectangle 7"/>
          <p:cNvSpPr/>
          <p:nvPr/>
        </p:nvSpPr>
        <p:spPr>
          <a:xfrm>
            <a:off x="640080" y="2331720"/>
            <a:ext cx="10607040" cy="68580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23160"/>
            <a:ext cx="10241280" cy="502920"/>
          </a:xfrm>
          <a:prstGeom prst="rect">
            <a:avLst/>
          </a:prstGeom>
          <a:noFill/>
        </p:spPr>
        <p:txBody>
          <a:bodyPr wrap="square">
            <a:spAutoFit/>
          </a:bodyPr>
          <a:lstStyle/>
          <a:p>
            <a:pPr algn="l"/>
            <a:r>
              <a:rPr sz="1800" b="0" i="0">
                <a:solidFill>
                  <a:srgbClr val="1E1E1E"/>
                </a:solidFill>
              </a:rPr>
              <a:t>「Googleでも他社でも高給・高い地位につける人が、20番目のエンジニアとして君の会社を選ぶ理由は何か？」</a:t>
            </a:r>
          </a:p>
        </p:txBody>
      </p:sp>
      <p:sp>
        <p:nvSpPr>
          <p:cNvPr id="10" name="Rectangle 9"/>
          <p:cNvSpPr/>
          <p:nvPr/>
        </p:nvSpPr>
        <p:spPr>
          <a:xfrm>
            <a:off x="594360" y="3154680"/>
            <a:ext cx="5212080" cy="269748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00400"/>
            <a:ext cx="4846320" cy="411480"/>
          </a:xfrm>
          <a:prstGeom prst="rect">
            <a:avLst/>
          </a:prstGeom>
          <a:noFill/>
        </p:spPr>
        <p:txBody>
          <a:bodyPr wrap="square">
            <a:spAutoFit/>
          </a:bodyPr>
          <a:lstStyle/>
          <a:p>
            <a:pPr algn="l"/>
            <a:r>
              <a:rPr sz="1500" b="1" i="0">
                <a:solidFill>
                  <a:srgbClr val="880000"/>
                </a:solidFill>
              </a:rPr>
              <a:t>✗  ダメな答え</a:t>
            </a:r>
          </a:p>
        </p:txBody>
      </p:sp>
      <p:sp>
        <p:nvSpPr>
          <p:cNvPr id="12" name="TextBox 11"/>
          <p:cNvSpPr txBox="1"/>
          <p:nvPr/>
        </p:nvSpPr>
        <p:spPr>
          <a:xfrm>
            <a:off x="777240" y="3639312"/>
            <a:ext cx="4846320" cy="2103120"/>
          </a:xfrm>
          <a:prstGeom prst="rect">
            <a:avLst/>
          </a:prstGeom>
          <a:noFill/>
        </p:spPr>
        <p:txBody>
          <a:bodyPr wrap="square">
            <a:spAutoFit/>
          </a:bodyPr>
          <a:lstStyle/>
          <a:p>
            <a:pPr algn="l"/>
            <a:r>
              <a:rPr sz="1500" b="0" i="0">
                <a:solidFill>
                  <a:srgbClr val="1E1E1E"/>
                </a:solidFill>
              </a:rPr>
              <a:t>• 「他社よりストックオプションが高い」
• 「優秀な人たちと仕事ができる」
• 「社会問題の解決に役立てる」
→ どれも他社でも言える一般論。
  君の会社が特別な理由にならない</a:t>
            </a:r>
          </a:p>
        </p:txBody>
      </p:sp>
      <p:sp>
        <p:nvSpPr>
          <p:cNvPr id="13" name="Rectangle 12"/>
          <p:cNvSpPr/>
          <p:nvPr/>
        </p:nvSpPr>
        <p:spPr>
          <a:xfrm>
            <a:off x="6382512" y="3154680"/>
            <a:ext cx="5212080" cy="2697480"/>
          </a:xfrm>
          <a:prstGeom prst="rect">
            <a:avLst/>
          </a:prstGeom>
          <a:solidFill>
            <a:srgbClr val="E8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3200400"/>
            <a:ext cx="4846320" cy="411480"/>
          </a:xfrm>
          <a:prstGeom prst="rect">
            <a:avLst/>
          </a:prstGeom>
          <a:noFill/>
        </p:spPr>
        <p:txBody>
          <a:bodyPr wrap="square">
            <a:spAutoFit/>
          </a:bodyPr>
          <a:lstStyle/>
          <a:p>
            <a:pPr algn="l"/>
            <a:r>
              <a:rPr sz="1500" b="1" i="0">
                <a:solidFill>
                  <a:srgbClr val="006B3C"/>
                </a:solidFill>
              </a:rPr>
              <a:t>✓  良い答えの2軸</a:t>
            </a:r>
          </a:p>
        </p:txBody>
      </p:sp>
      <p:sp>
        <p:nvSpPr>
          <p:cNvPr id="15" name="TextBox 14"/>
          <p:cNvSpPr txBox="1"/>
          <p:nvPr/>
        </p:nvSpPr>
        <p:spPr>
          <a:xfrm>
            <a:off x="6565392" y="3639312"/>
            <a:ext cx="4846320" cy="2103120"/>
          </a:xfrm>
          <a:prstGeom prst="rect">
            <a:avLst/>
          </a:prstGeom>
          <a:noFill/>
        </p:spPr>
        <p:txBody>
          <a:bodyPr wrap="square">
            <a:spAutoFit/>
          </a:bodyPr>
          <a:lstStyle/>
          <a:p>
            <a:pPr algn="l"/>
            <a:r>
              <a:rPr sz="1500" b="0" i="0">
                <a:solidFill>
                  <a:srgbClr val="1E1E1E"/>
                </a:solidFill>
              </a:rPr>
              <a:t>① 使命：「なぜこの会社だけが
   その大切なことをできるのか」
② チーム：「この人たちと
   一緒に働きたいか」
例）PayPal: 米ドルに代わる
新デジタル通貨の創造</a:t>
            </a:r>
          </a:p>
        </p:txBody>
      </p:sp>
      <p:sp>
        <p:nvSpPr>
          <p:cNvPr id="16" name="TextBox 15"/>
          <p:cNvSpPr txBox="1"/>
          <p:nvPr/>
        </p:nvSpPr>
        <p:spPr>
          <a:xfrm>
            <a:off x="640080" y="5943600"/>
            <a:ext cx="10515600" cy="502920"/>
          </a:xfrm>
          <a:prstGeom prst="rect">
            <a:avLst/>
          </a:prstGeom>
          <a:noFill/>
        </p:spPr>
        <p:txBody>
          <a:bodyPr wrap="square">
            <a:spAutoFit/>
          </a:bodyPr>
          <a:lstStyle/>
          <a:p>
            <a:pPr algn="l"/>
            <a:r>
              <a:rPr sz="1600" b="1" i="0">
                <a:solidFill>
                  <a:srgbClr val="1A2E5C"/>
                </a:solidFill>
              </a:rPr>
              <a:t>待遇競争をしてはいけない。使命とチームへの正しい答えがあれば、1999年のGoogleになれる。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チームの同質性</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スター・ウォーズ派のチームが動く理由</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マックス・レヴチンによると、初期のPayPalチームがうまくいったのは「全員が同じタイプのおたく」だったからだ。</a:t>
            </a:r>
          </a:p>
        </p:txBody>
      </p:sp>
      <p:sp>
        <p:nvSpPr>
          <p:cNvPr id="8" name="Rectangle 7"/>
          <p:cNvSpPr/>
          <p:nvPr/>
        </p:nvSpPr>
        <p:spPr>
          <a:xfrm>
            <a:off x="640080" y="2331720"/>
            <a:ext cx="10607040" cy="86868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23160"/>
            <a:ext cx="10241280" cy="685800"/>
          </a:xfrm>
          <a:prstGeom prst="rect">
            <a:avLst/>
          </a:prstGeom>
          <a:noFill/>
        </p:spPr>
        <p:txBody>
          <a:bodyPr wrap="square">
            <a:spAutoFit/>
          </a:bodyPr>
          <a:lstStyle/>
          <a:p>
            <a:pPr algn="l"/>
            <a:r>
              <a:rPr sz="1800" b="0" i="0">
                <a:solidFill>
                  <a:srgbClr val="1E1E1E"/>
                </a:solidFill>
              </a:rPr>
              <a:t>「みんなSFが大好き。スタート・トレックよりスター・ウォーズ派。
そして何より、政府でなく個人がコントロールするデジタル通貨の創出に全員が取り憑かれていた」</a:t>
            </a:r>
          </a:p>
        </p:txBody>
      </p:sp>
      <p:sp>
        <p:nvSpPr>
          <p:cNvPr id="10" name="TextBox 9"/>
          <p:cNvSpPr txBox="1"/>
          <p:nvPr/>
        </p:nvSpPr>
        <p:spPr>
          <a:xfrm>
            <a:off x="640080" y="3337560"/>
            <a:ext cx="10972800" cy="384048"/>
          </a:xfrm>
          <a:prstGeom prst="rect">
            <a:avLst/>
          </a:prstGeom>
          <a:noFill/>
        </p:spPr>
        <p:txBody>
          <a:bodyPr wrap="square">
            <a:spAutoFit/>
          </a:bodyPr>
          <a:lstStyle/>
          <a:p>
            <a:pPr algn="l"/>
            <a:r>
              <a:rPr sz="1400" b="1" i="0">
                <a:solidFill>
                  <a:srgbClr val="555555"/>
                </a:solidFill>
              </a:rPr>
              <a:t>この原則が意味すること</a:t>
            </a:r>
          </a:p>
        </p:txBody>
      </p:sp>
      <p:sp>
        <p:nvSpPr>
          <p:cNvPr id="11" name="Rectangle 10"/>
          <p:cNvSpPr/>
          <p:nvPr/>
        </p:nvSpPr>
        <p:spPr>
          <a:xfrm>
            <a:off x="594360" y="3730752"/>
            <a:ext cx="3566160" cy="265176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822191"/>
            <a:ext cx="3346704" cy="457200"/>
          </a:xfrm>
          <a:prstGeom prst="rect">
            <a:avLst/>
          </a:prstGeom>
          <a:noFill/>
        </p:spPr>
        <p:txBody>
          <a:bodyPr wrap="square">
            <a:spAutoFit/>
          </a:bodyPr>
          <a:lstStyle/>
          <a:p>
            <a:pPr algn="l"/>
            <a:r>
              <a:rPr sz="1500" b="1" i="0">
                <a:solidFill>
                  <a:srgbClr val="1A2E5C"/>
                </a:solidFill>
              </a:rPr>
              <a:t>外見の下にある原則</a:t>
            </a:r>
          </a:p>
        </p:txBody>
      </p:sp>
      <p:sp>
        <p:nvSpPr>
          <p:cNvPr id="13" name="TextBox 12"/>
          <p:cNvSpPr txBox="1"/>
          <p:nvPr/>
        </p:nvSpPr>
        <p:spPr>
          <a:xfrm>
            <a:off x="704088" y="4325112"/>
            <a:ext cx="3346704" cy="1965960"/>
          </a:xfrm>
          <a:prstGeom prst="rect">
            <a:avLst/>
          </a:prstGeom>
          <a:noFill/>
        </p:spPr>
        <p:txBody>
          <a:bodyPr wrap="square">
            <a:spAutoFit/>
          </a:bodyPr>
          <a:lstStyle/>
          <a:p>
            <a:pPr algn="l"/>
            <a:r>
              <a:rPr sz="1300" b="0" i="0">
                <a:solidFill>
                  <a:srgbClr val="555555"/>
                </a:solidFill>
              </a:rPr>
              <a:t>同じロゴTシャツ・パーカーは表面。
その下には「使命への深いコミット」
という共通項がある</a:t>
            </a:r>
          </a:p>
        </p:txBody>
      </p:sp>
      <p:sp>
        <p:nvSpPr>
          <p:cNvPr id="14" name="Rectangle 13"/>
          <p:cNvSpPr/>
          <p:nvPr/>
        </p:nvSpPr>
        <p:spPr>
          <a:xfrm>
            <a:off x="4288536" y="3730752"/>
            <a:ext cx="3566160" cy="265176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8264" y="3822191"/>
            <a:ext cx="3346704" cy="457200"/>
          </a:xfrm>
          <a:prstGeom prst="rect">
            <a:avLst/>
          </a:prstGeom>
          <a:noFill/>
        </p:spPr>
        <p:txBody>
          <a:bodyPr wrap="square">
            <a:spAutoFit/>
          </a:bodyPr>
          <a:lstStyle/>
          <a:p>
            <a:pPr algn="l"/>
            <a:r>
              <a:rPr sz="1500" b="1" i="0">
                <a:solidFill>
                  <a:srgbClr val="1A2E5C"/>
                </a:solidFill>
              </a:rPr>
              <a:t>多様性より「同じ取り憑かれ方」</a:t>
            </a:r>
          </a:p>
        </p:txBody>
      </p:sp>
      <p:sp>
        <p:nvSpPr>
          <p:cNvPr id="16" name="TextBox 15"/>
          <p:cNvSpPr txBox="1"/>
          <p:nvPr/>
        </p:nvSpPr>
        <p:spPr>
          <a:xfrm>
            <a:off x="4398264" y="4325112"/>
            <a:ext cx="3346704" cy="1965960"/>
          </a:xfrm>
          <a:prstGeom prst="rect">
            <a:avLst/>
          </a:prstGeom>
          <a:noFill/>
        </p:spPr>
        <p:txBody>
          <a:bodyPr wrap="square">
            <a:spAutoFit/>
          </a:bodyPr>
          <a:lstStyle/>
          <a:p>
            <a:pPr algn="l"/>
            <a:r>
              <a:rPr sz="1300" b="0" i="0">
                <a:solidFill>
                  <a:srgbClr val="555555"/>
                </a:solidFill>
              </a:rPr>
              <a:t>初期チームでは出身地や外見より、
同じ問題に強く取り憑かれていること
の方が重要</a:t>
            </a:r>
          </a:p>
        </p:txBody>
      </p:sp>
      <p:sp>
        <p:nvSpPr>
          <p:cNvPr id="17" name="Rectangle 16"/>
          <p:cNvSpPr/>
          <p:nvPr/>
        </p:nvSpPr>
        <p:spPr>
          <a:xfrm>
            <a:off x="7982712" y="3730752"/>
            <a:ext cx="3566160" cy="265176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22191"/>
            <a:ext cx="3346704" cy="457200"/>
          </a:xfrm>
          <a:prstGeom prst="rect">
            <a:avLst/>
          </a:prstGeom>
          <a:noFill/>
        </p:spPr>
        <p:txBody>
          <a:bodyPr wrap="square">
            <a:spAutoFit/>
          </a:bodyPr>
          <a:lstStyle/>
          <a:p>
            <a:pPr algn="l"/>
            <a:r>
              <a:rPr sz="1500" b="1" i="0">
                <a:solidFill>
                  <a:srgbClr val="1A2E5C"/>
                </a:solidFill>
              </a:rPr>
              <a:t>採用の判断軸</a:t>
            </a:r>
          </a:p>
        </p:txBody>
      </p:sp>
      <p:sp>
        <p:nvSpPr>
          <p:cNvPr id="19" name="TextBox 18"/>
          <p:cNvSpPr txBox="1"/>
          <p:nvPr/>
        </p:nvSpPr>
        <p:spPr>
          <a:xfrm>
            <a:off x="8092440" y="4325112"/>
            <a:ext cx="3346704" cy="1965960"/>
          </a:xfrm>
          <a:prstGeom prst="rect">
            <a:avLst/>
          </a:prstGeom>
          <a:noFill/>
        </p:spPr>
        <p:txBody>
          <a:bodyPr wrap="square">
            <a:spAutoFit/>
          </a:bodyPr>
          <a:lstStyle/>
          <a:p>
            <a:pPr algn="l"/>
            <a:r>
              <a:rPr sz="1300" b="0" i="0">
                <a:solidFill>
                  <a:srgbClr val="555555"/>
                </a:solidFill>
              </a:rPr>
              <a:t>「同じくらいのこだわりを持っているか」
がスキルより先に問われる。
それが初期のスピードと結束を生む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役割設計</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ひとつの責任が社内平和を守る</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749808"/>
          </a:xfrm>
          <a:prstGeom prst="rect">
            <a:avLst/>
          </a:prstGeom>
          <a:noFill/>
        </p:spPr>
        <p:txBody>
          <a:bodyPr wrap="square">
            <a:spAutoFit/>
          </a:bodyPr>
          <a:lstStyle/>
          <a:p>
            <a:pPr algn="l"/>
            <a:r>
              <a:rPr sz="1800" b="0" i="0">
                <a:solidFill>
                  <a:srgbClr val="1E1E1E"/>
                </a:solidFill>
              </a:rPr>
              <a:t>ティールがPayPal経営者として取った最善策は、一人ひとりにひとつの責任を任せ、その仕事だけで評価することを全員が理解している状態を作ることだった。</a:t>
            </a:r>
          </a:p>
        </p:txBody>
      </p:sp>
      <p:sp>
        <p:nvSpPr>
          <p:cNvPr id="8" name="TextBox 7"/>
          <p:cNvSpPr txBox="1"/>
          <p:nvPr/>
        </p:nvSpPr>
        <p:spPr>
          <a:xfrm>
            <a:off x="640080" y="2487168"/>
            <a:ext cx="10515600" cy="502920"/>
          </a:xfrm>
          <a:prstGeom prst="rect">
            <a:avLst/>
          </a:prstGeom>
          <a:noFill/>
        </p:spPr>
        <p:txBody>
          <a:bodyPr wrap="square">
            <a:spAutoFit/>
          </a:bodyPr>
          <a:lstStyle/>
          <a:p>
            <a:pPr algn="l"/>
            <a:r>
              <a:rPr sz="1800" b="0" i="0">
                <a:solidFill>
                  <a:srgbClr val="1E1E1E"/>
                </a:solidFill>
              </a:rPr>
              <a:t>• 役割が曖昧だと社員が同じ仕事を競い合い、縄張り争いが起きる</a:t>
            </a:r>
          </a:p>
        </p:txBody>
      </p:sp>
      <p:sp>
        <p:nvSpPr>
          <p:cNvPr id="9" name="TextBox 8"/>
          <p:cNvSpPr txBox="1"/>
          <p:nvPr/>
        </p:nvSpPr>
        <p:spPr>
          <a:xfrm>
            <a:off x="640080" y="2944368"/>
            <a:ext cx="10515600" cy="502920"/>
          </a:xfrm>
          <a:prstGeom prst="rect">
            <a:avLst/>
          </a:prstGeom>
          <a:noFill/>
        </p:spPr>
        <p:txBody>
          <a:bodyPr wrap="square">
            <a:spAutoFit/>
          </a:bodyPr>
          <a:lstStyle/>
          <a:p>
            <a:pPr algn="l"/>
            <a:r>
              <a:rPr sz="1800" b="0" i="0">
                <a:solidFill>
                  <a:srgbClr val="1E1E1E"/>
                </a:solidFill>
              </a:rPr>
              <a:t>• アーリーステージは役割が流動的なため、とりわけリスクが高い</a:t>
            </a:r>
          </a:p>
        </p:txBody>
      </p:sp>
      <p:sp>
        <p:nvSpPr>
          <p:cNvPr id="10" name="TextBox 9"/>
          <p:cNvSpPr txBox="1"/>
          <p:nvPr/>
        </p:nvSpPr>
        <p:spPr>
          <a:xfrm>
            <a:off x="640080" y="3401568"/>
            <a:ext cx="10515600" cy="502920"/>
          </a:xfrm>
          <a:prstGeom prst="rect">
            <a:avLst/>
          </a:prstGeom>
          <a:noFill/>
        </p:spPr>
        <p:txBody>
          <a:bodyPr wrap="square">
            <a:spAutoFit/>
          </a:bodyPr>
          <a:lstStyle/>
          <a:p>
            <a:pPr algn="l"/>
            <a:r>
              <a:rPr sz="1800" b="0" i="0">
                <a:solidFill>
                  <a:srgbClr val="1E1E1E"/>
                </a:solidFill>
              </a:rPr>
              <a:t>• 評価基準が明確になると、人事評価も社内コミュニケーションも透明になる</a:t>
            </a:r>
          </a:p>
        </p:txBody>
      </p:sp>
      <p:sp>
        <p:nvSpPr>
          <p:cNvPr id="11" name="Rectangle 10"/>
          <p:cNvSpPr/>
          <p:nvPr/>
        </p:nvSpPr>
        <p:spPr>
          <a:xfrm>
            <a:off x="640080" y="4023360"/>
            <a:ext cx="10607040" cy="685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114800"/>
            <a:ext cx="10241280" cy="502920"/>
          </a:xfrm>
          <a:prstGeom prst="rect">
            <a:avLst/>
          </a:prstGeom>
          <a:noFill/>
        </p:spPr>
        <p:txBody>
          <a:bodyPr wrap="square">
            <a:spAutoFit/>
          </a:bodyPr>
          <a:lstStyle/>
          <a:p>
            <a:pPr algn="l"/>
            <a:r>
              <a:rPr sz="1700" b="0" i="0">
                <a:solidFill>
                  <a:srgbClr val="880000"/>
                </a:solidFill>
              </a:rPr>
              <a:t>「内部闘争は自己免疫疾患のようなもの。直接の死因は肺炎でも、本当の原因は自分の中に隠れている」</a:t>
            </a:r>
          </a:p>
        </p:txBody>
      </p:sp>
      <p:sp>
        <p:nvSpPr>
          <p:cNvPr id="13" name="TextBox 12"/>
          <p:cNvSpPr txBox="1"/>
          <p:nvPr/>
        </p:nvSpPr>
        <p:spPr>
          <a:xfrm>
            <a:off x="640080" y="4846320"/>
            <a:ext cx="10515600" cy="658368"/>
          </a:xfrm>
          <a:prstGeom prst="rect">
            <a:avLst/>
          </a:prstGeom>
          <a:noFill/>
        </p:spPr>
        <p:txBody>
          <a:bodyPr wrap="square">
            <a:spAutoFit/>
          </a:bodyPr>
          <a:lstStyle/>
          <a:p>
            <a:pPr algn="l"/>
            <a:r>
              <a:rPr sz="1700" b="1" i="0">
                <a:solidFill>
                  <a:srgbClr val="1A2E5C"/>
                </a:solidFill>
              </a:rPr>
              <a:t>スタートアップの失敗は外部競争より、社内の平和崩壊から始まることが多い。
ひとつの責任の明確化が、外部の脅威への対応力を生む。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文化の強度</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カルトとコンサルタントの間</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企業文化はスペクトラムで考えられる。どの会社もカルトとコンサルタントの間のどこかに位置する。</a:t>
            </a:r>
          </a:p>
        </p:txBody>
      </p:sp>
      <p:sp>
        <p:nvSpPr>
          <p:cNvPr id="8" name="Rectangle 7"/>
          <p:cNvSpPr/>
          <p:nvPr/>
        </p:nvSpPr>
        <p:spPr>
          <a:xfrm>
            <a:off x="594360" y="2359152"/>
            <a:ext cx="11000232" cy="41148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77440"/>
            <a:ext cx="3200400" cy="365760"/>
          </a:xfrm>
          <a:prstGeom prst="rect">
            <a:avLst/>
          </a:prstGeom>
          <a:noFill/>
        </p:spPr>
        <p:txBody>
          <a:bodyPr wrap="square">
            <a:spAutoFit/>
          </a:bodyPr>
          <a:lstStyle/>
          <a:p>
            <a:pPr algn="l"/>
            <a:r>
              <a:rPr sz="1300" b="1" i="0">
                <a:solidFill>
                  <a:srgbClr val="880000"/>
                </a:solidFill>
              </a:rPr>
              <a:t>カルト（盲信）</a:t>
            </a:r>
          </a:p>
        </p:txBody>
      </p:sp>
      <p:sp>
        <p:nvSpPr>
          <p:cNvPr id="10" name="TextBox 9"/>
          <p:cNvSpPr txBox="1"/>
          <p:nvPr/>
        </p:nvSpPr>
        <p:spPr>
          <a:xfrm>
            <a:off x="3200400" y="2395728"/>
            <a:ext cx="5943600" cy="347472"/>
          </a:xfrm>
          <a:prstGeom prst="rect">
            <a:avLst/>
          </a:prstGeom>
          <a:noFill/>
        </p:spPr>
        <p:txBody>
          <a:bodyPr wrap="square">
            <a:spAutoFit/>
          </a:bodyPr>
          <a:lstStyle/>
          <a:p>
            <a:pPr algn="ctr"/>
            <a:r>
              <a:rPr sz="1200" b="0" i="0">
                <a:solidFill>
                  <a:srgbClr val="008B8B"/>
                </a:solidFill>
              </a:rPr>
              <a:t>◀ ────── 最良のスタートアップ ────── ▶</a:t>
            </a:r>
          </a:p>
        </p:txBody>
      </p:sp>
      <p:sp>
        <p:nvSpPr>
          <p:cNvPr id="11" name="TextBox 10"/>
          <p:cNvSpPr txBox="1"/>
          <p:nvPr/>
        </p:nvSpPr>
        <p:spPr>
          <a:xfrm>
            <a:off x="8686800" y="2377440"/>
            <a:ext cx="2834640" cy="365760"/>
          </a:xfrm>
          <a:prstGeom prst="rect">
            <a:avLst/>
          </a:prstGeom>
          <a:noFill/>
        </p:spPr>
        <p:txBody>
          <a:bodyPr wrap="square">
            <a:spAutoFit/>
          </a:bodyPr>
          <a:lstStyle/>
          <a:p>
            <a:pPr algn="r"/>
            <a:r>
              <a:rPr sz="1300" b="1" i="0">
                <a:solidFill>
                  <a:srgbClr val="555555"/>
                </a:solidFill>
              </a:rPr>
              <a:t>コンサルタント（希薄）</a:t>
            </a:r>
          </a:p>
        </p:txBody>
      </p:sp>
      <p:sp>
        <p:nvSpPr>
          <p:cNvPr id="12" name="Rectangle 11"/>
          <p:cNvSpPr/>
          <p:nvPr/>
        </p:nvSpPr>
        <p:spPr>
          <a:xfrm>
            <a:off x="594360" y="2880360"/>
            <a:ext cx="5212080" cy="283464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26080"/>
            <a:ext cx="4846320" cy="411480"/>
          </a:xfrm>
          <a:prstGeom prst="rect">
            <a:avLst/>
          </a:prstGeom>
          <a:noFill/>
        </p:spPr>
        <p:txBody>
          <a:bodyPr wrap="square">
            <a:spAutoFit/>
          </a:bodyPr>
          <a:lstStyle/>
          <a:p>
            <a:pPr algn="l"/>
            <a:r>
              <a:rPr sz="1500" b="1" i="0">
                <a:solidFill>
                  <a:srgbClr val="880000"/>
                </a:solidFill>
              </a:rPr>
              <a:t>カルト</a:t>
            </a:r>
          </a:p>
        </p:txBody>
      </p:sp>
      <p:sp>
        <p:nvSpPr>
          <p:cNvPr id="14" name="TextBox 13"/>
          <p:cNvSpPr txBox="1"/>
          <p:nvPr/>
        </p:nvSpPr>
        <p:spPr>
          <a:xfrm>
            <a:off x="777240" y="3364992"/>
            <a:ext cx="4846320" cy="2240280"/>
          </a:xfrm>
          <a:prstGeom prst="rect">
            <a:avLst/>
          </a:prstGeom>
          <a:noFill/>
        </p:spPr>
        <p:txBody>
          <a:bodyPr wrap="square">
            <a:spAutoFit/>
          </a:bodyPr>
          <a:lstStyle/>
          <a:p>
            <a:pPr algn="l"/>
            <a:r>
              <a:rPr sz="1500" b="0" i="0">
                <a:solidFill>
                  <a:srgbClr val="1E1E1E"/>
                </a:solidFill>
              </a:rPr>
              <a:t>• 同じ組織のメンバーとしかつるまない
• 家族を無視し、外の世界を遮断
• 強い仲間意識
• 「重要な点を間違って盲信する」
問題：真実そのものが誤り</a:t>
            </a:r>
          </a:p>
        </p:txBody>
      </p:sp>
      <p:sp>
        <p:nvSpPr>
          <p:cNvPr id="15" name="Rectangle 14"/>
          <p:cNvSpPr/>
          <p:nvPr/>
        </p:nvSpPr>
        <p:spPr>
          <a:xfrm>
            <a:off x="6382512" y="2880360"/>
            <a:ext cx="5212080" cy="2834640"/>
          </a:xfrm>
          <a:prstGeom prst="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2926080"/>
            <a:ext cx="4846320" cy="411480"/>
          </a:xfrm>
          <a:prstGeom prst="rect">
            <a:avLst/>
          </a:prstGeom>
          <a:noFill/>
        </p:spPr>
        <p:txBody>
          <a:bodyPr wrap="square">
            <a:spAutoFit/>
          </a:bodyPr>
          <a:lstStyle/>
          <a:p>
            <a:pPr algn="l"/>
            <a:r>
              <a:rPr sz="1500" b="1" i="0">
                <a:solidFill>
                  <a:srgbClr val="1A2E5C"/>
                </a:solidFill>
              </a:rPr>
              <a:t>最良のスタートアップ</a:t>
            </a:r>
          </a:p>
        </p:txBody>
      </p:sp>
      <p:sp>
        <p:nvSpPr>
          <p:cNvPr id="17" name="TextBox 16"/>
          <p:cNvSpPr txBox="1"/>
          <p:nvPr/>
        </p:nvSpPr>
        <p:spPr>
          <a:xfrm>
            <a:off x="6565392" y="3364992"/>
            <a:ext cx="4846320" cy="2240280"/>
          </a:xfrm>
          <a:prstGeom prst="rect">
            <a:avLst/>
          </a:prstGeom>
          <a:noFill/>
        </p:spPr>
        <p:txBody>
          <a:bodyPr wrap="square">
            <a:spAutoFit/>
          </a:bodyPr>
          <a:lstStyle/>
          <a:p>
            <a:pPr algn="l"/>
            <a:r>
              <a:rPr sz="1500" b="0" i="0">
                <a:solidFill>
                  <a:srgbClr val="1E1E1E"/>
                </a:solidFill>
              </a:rPr>
              <a:t>• 外の人が見逃している
  「隠れた真実」を正しく信仰
• 完全な献身の文化
• 外から見ると「少し過剰」に映る
→ コンサルタントと呼ばれるより
   マフィアと呼ばれる方がましだ</a:t>
            </a:r>
          </a:p>
        </p:txBody>
      </p:sp>
      <p:sp>
        <p:nvSpPr>
          <p:cNvPr id="18" name="Rectangle 17"/>
          <p:cNvSpPr/>
          <p:nvPr/>
        </p:nvSpPr>
        <p:spPr>
          <a:xfrm>
            <a:off x="594360" y="5806440"/>
            <a:ext cx="11000232" cy="59436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97879"/>
            <a:ext cx="10634472" cy="411480"/>
          </a:xfrm>
          <a:prstGeom prst="rect">
            <a:avLst/>
          </a:prstGeom>
          <a:noFill/>
        </p:spPr>
        <p:txBody>
          <a:bodyPr wrap="square">
            <a:spAutoFit/>
          </a:bodyPr>
          <a:lstStyle/>
          <a:p>
            <a:pPr algn="l"/>
            <a:r>
              <a:rPr sz="1800" b="0" i="0">
                <a:solidFill>
                  <a:srgbClr val="1E1E1E"/>
                </a:solidFill>
              </a:rPr>
              <a:t>「完全な献身を求めるカルトと呼ばれる方が、まだましだ。なんならマフィアでもかまわない」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まとめ — 10章を読んで</a:t>
            </a:r>
          </a:p>
        </p:txBody>
      </p:sp>
      <p:sp>
        <p:nvSpPr>
          <p:cNvPr id="5" name="TextBox 4"/>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自分の理解と印象</a:t>
            </a:r>
          </a:p>
        </p:txBody>
      </p:sp>
      <p:sp>
        <p:nvSpPr>
          <p:cNvPr id="6" name="Rectangle 5"/>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719072"/>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6231"/>
            <a:ext cx="365760" cy="457200"/>
          </a:xfrm>
          <a:prstGeom prst="rect">
            <a:avLst/>
          </a:prstGeom>
          <a:noFill/>
        </p:spPr>
        <p:txBody>
          <a:bodyPr wrap="square">
            <a:spAutoFit/>
          </a:bodyPr>
          <a:lstStyle/>
          <a:p>
            <a:pPr algn="ctr"/>
            <a:r>
              <a:rPr sz="1700" b="1" i="0">
                <a:solidFill>
                  <a:srgbClr val="FFFFFF"/>
                </a:solidFill>
              </a:rPr>
              <a:t>1</a:t>
            </a:r>
          </a:p>
        </p:txBody>
      </p:sp>
      <p:sp>
        <p:nvSpPr>
          <p:cNvPr id="9" name="Rectangle 8"/>
          <p:cNvSpPr/>
          <p:nvPr/>
        </p:nvSpPr>
        <p:spPr>
          <a:xfrm>
            <a:off x="1005840" y="1719072"/>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856231"/>
            <a:ext cx="10241280" cy="548640"/>
          </a:xfrm>
          <a:prstGeom prst="rect">
            <a:avLst/>
          </a:prstGeom>
          <a:noFill/>
        </p:spPr>
        <p:txBody>
          <a:bodyPr wrap="square">
            <a:spAutoFit/>
          </a:bodyPr>
          <a:lstStyle/>
          <a:p>
            <a:pPr algn="l"/>
            <a:r>
              <a:rPr sz="1600" b="0" i="0">
                <a:solidFill>
                  <a:srgbClr val="1E1E1E"/>
                </a:solidFill>
              </a:rPr>
              <a:t>企業文化はデザインや福利厚生では作れない。使命に取り憑かれた人たちの集まりそのものが文化だ</a:t>
            </a:r>
          </a:p>
        </p:txBody>
      </p:sp>
      <p:sp>
        <p:nvSpPr>
          <p:cNvPr id="11" name="Rectangle 10"/>
          <p:cNvSpPr/>
          <p:nvPr/>
        </p:nvSpPr>
        <p:spPr>
          <a:xfrm>
            <a:off x="594360" y="2651760"/>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88920"/>
            <a:ext cx="365760" cy="457200"/>
          </a:xfrm>
          <a:prstGeom prst="rect">
            <a:avLst/>
          </a:prstGeom>
          <a:noFill/>
        </p:spPr>
        <p:txBody>
          <a:bodyPr wrap="square">
            <a:spAutoFit/>
          </a:bodyPr>
          <a:lstStyle/>
          <a:p>
            <a:pPr algn="ctr"/>
            <a:r>
              <a:rPr sz="1700" b="1" i="0">
                <a:solidFill>
                  <a:srgbClr val="FFFFFF"/>
                </a:solidFill>
              </a:rPr>
              <a:t>2</a:t>
            </a:r>
          </a:p>
        </p:txBody>
      </p:sp>
      <p:sp>
        <p:nvSpPr>
          <p:cNvPr id="13" name="Rectangle 12"/>
          <p:cNvSpPr/>
          <p:nvPr/>
        </p:nvSpPr>
        <p:spPr>
          <a:xfrm>
            <a:off x="1005840" y="2651760"/>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2788920"/>
            <a:ext cx="10241280" cy="548640"/>
          </a:xfrm>
          <a:prstGeom prst="rect">
            <a:avLst/>
          </a:prstGeom>
          <a:noFill/>
        </p:spPr>
        <p:txBody>
          <a:bodyPr wrap="square">
            <a:spAutoFit/>
          </a:bodyPr>
          <a:lstStyle/>
          <a:p>
            <a:pPr algn="l"/>
            <a:r>
              <a:rPr sz="1600" b="0" i="0">
                <a:solidFill>
                  <a:srgbClr val="1E1E1E"/>
                </a:solidFill>
              </a:rPr>
              <a:t>採用とは共謀者を見つけること。「なぜこの会社でなければならないか」を語れなければ採用は意味がない</a:t>
            </a:r>
          </a:p>
        </p:txBody>
      </p:sp>
      <p:sp>
        <p:nvSpPr>
          <p:cNvPr id="15" name="Rectangle 14"/>
          <p:cNvSpPr/>
          <p:nvPr/>
        </p:nvSpPr>
        <p:spPr>
          <a:xfrm>
            <a:off x="594360" y="3584448"/>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721608"/>
            <a:ext cx="365760" cy="457200"/>
          </a:xfrm>
          <a:prstGeom prst="rect">
            <a:avLst/>
          </a:prstGeom>
          <a:noFill/>
        </p:spPr>
        <p:txBody>
          <a:bodyPr wrap="square">
            <a:spAutoFit/>
          </a:bodyPr>
          <a:lstStyle/>
          <a:p>
            <a:pPr algn="ctr"/>
            <a:r>
              <a:rPr sz="1700" b="1" i="0">
                <a:solidFill>
                  <a:srgbClr val="FFFFFF"/>
                </a:solidFill>
              </a:rPr>
              <a:t>3</a:t>
            </a:r>
          </a:p>
        </p:txBody>
      </p:sp>
      <p:sp>
        <p:nvSpPr>
          <p:cNvPr id="17" name="Rectangle 16"/>
          <p:cNvSpPr/>
          <p:nvPr/>
        </p:nvSpPr>
        <p:spPr>
          <a:xfrm>
            <a:off x="1005840" y="3584448"/>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721608"/>
            <a:ext cx="10241280" cy="548640"/>
          </a:xfrm>
          <a:prstGeom prst="rect">
            <a:avLst/>
          </a:prstGeom>
          <a:noFill/>
        </p:spPr>
        <p:txBody>
          <a:bodyPr wrap="square">
            <a:spAutoFit/>
          </a:bodyPr>
          <a:lstStyle/>
          <a:p>
            <a:pPr algn="l"/>
            <a:r>
              <a:rPr sz="1600" b="0" i="0">
                <a:solidFill>
                  <a:srgbClr val="1E1E1E"/>
                </a:solidFill>
              </a:rPr>
              <a:t>一人一責任の原則が縄張り争いを防ぎ、スタートアップの最大のリスク「内部崩壊」を遠ざける</a:t>
            </a:r>
          </a:p>
        </p:txBody>
      </p:sp>
      <p:sp>
        <p:nvSpPr>
          <p:cNvPr id="19" name="Rectangle 18"/>
          <p:cNvSpPr/>
          <p:nvPr/>
        </p:nvSpPr>
        <p:spPr>
          <a:xfrm>
            <a:off x="594360" y="4517136"/>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54296"/>
            <a:ext cx="365760" cy="457200"/>
          </a:xfrm>
          <a:prstGeom prst="rect">
            <a:avLst/>
          </a:prstGeom>
          <a:noFill/>
        </p:spPr>
        <p:txBody>
          <a:bodyPr wrap="square">
            <a:spAutoFit/>
          </a:bodyPr>
          <a:lstStyle/>
          <a:p>
            <a:pPr algn="ctr"/>
            <a:r>
              <a:rPr sz="1700" b="1" i="0">
                <a:solidFill>
                  <a:srgbClr val="FFFFFF"/>
                </a:solidFill>
              </a:rPr>
              <a:t>4</a:t>
            </a:r>
          </a:p>
        </p:txBody>
      </p:sp>
      <p:sp>
        <p:nvSpPr>
          <p:cNvPr id="21" name="Rectangle 20"/>
          <p:cNvSpPr/>
          <p:nvPr/>
        </p:nvSpPr>
        <p:spPr>
          <a:xfrm>
            <a:off x="1005840" y="4517136"/>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654296"/>
            <a:ext cx="10241280" cy="548640"/>
          </a:xfrm>
          <a:prstGeom prst="rect">
            <a:avLst/>
          </a:prstGeom>
          <a:noFill/>
        </p:spPr>
        <p:txBody>
          <a:bodyPr wrap="square">
            <a:spAutoFit/>
          </a:bodyPr>
          <a:lstStyle/>
          <a:p>
            <a:pPr algn="l"/>
            <a:r>
              <a:rPr sz="1600" b="0" i="0">
                <a:solidFill>
                  <a:srgbClr val="1E1E1E"/>
                </a:solidFill>
              </a:rPr>
              <a:t>最良のスタートアップは他者が見逃した隠れた真実に賭ける集団。その献身は外から見ると「狂気」に映る</a:t>
            </a:r>
          </a:p>
        </p:txBody>
      </p:sp>
      <p:sp>
        <p:nvSpPr>
          <p:cNvPr id="23" name="Rectangle 22"/>
          <p:cNvSpPr/>
          <p:nvPr/>
        </p:nvSpPr>
        <p:spPr>
          <a:xfrm>
            <a:off x="594360" y="5449824"/>
            <a:ext cx="365760" cy="7315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586984"/>
            <a:ext cx="365760" cy="457200"/>
          </a:xfrm>
          <a:prstGeom prst="rect">
            <a:avLst/>
          </a:prstGeom>
          <a:noFill/>
        </p:spPr>
        <p:txBody>
          <a:bodyPr wrap="square">
            <a:spAutoFit/>
          </a:bodyPr>
          <a:lstStyle/>
          <a:p>
            <a:pPr algn="ctr"/>
            <a:r>
              <a:rPr sz="1700" b="1" i="0">
                <a:solidFill>
                  <a:srgbClr val="FFFFFF"/>
                </a:solidFill>
              </a:rPr>
              <a:t>5</a:t>
            </a:r>
          </a:p>
        </p:txBody>
      </p:sp>
      <p:sp>
        <p:nvSpPr>
          <p:cNvPr id="25" name="Rectangle 24"/>
          <p:cNvSpPr/>
          <p:nvPr/>
        </p:nvSpPr>
        <p:spPr>
          <a:xfrm>
            <a:off x="1005840" y="5449824"/>
            <a:ext cx="10588752" cy="73152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3000" y="5586984"/>
            <a:ext cx="10241280" cy="548640"/>
          </a:xfrm>
          <a:prstGeom prst="rect">
            <a:avLst/>
          </a:prstGeom>
          <a:noFill/>
        </p:spPr>
        <p:txBody>
          <a:bodyPr wrap="square">
            <a:spAutoFit/>
          </a:bodyPr>
          <a:lstStyle/>
          <a:p>
            <a:pPr algn="l"/>
            <a:r>
              <a:rPr sz="1600" b="0" i="0">
                <a:solidFill>
                  <a:srgbClr val="1E1E1E"/>
                </a:solidFill>
              </a:rPr>
              <a:t>チームの強さは、同じ問題に取り憑かれているかどうか。多様性より「同じ取り憑かれ方」が初期には効く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