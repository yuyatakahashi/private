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01168"/>
            <a:ext cx="10972800" cy="457200"/>
          </a:xfrm>
          <a:prstGeom prst="rect">
            <a:avLst/>
          </a:prstGeom>
          <a:noFill/>
        </p:spPr>
        <p:txBody>
          <a:bodyPr wrap="square">
            <a:spAutoFit/>
          </a:bodyPr>
          <a:lstStyle/>
          <a:p>
            <a:pPr algn="l"/>
            <a:r>
              <a:rPr sz="1600" b="0" i="0">
                <a:solidFill>
                  <a:srgbClr val="555555"/>
                </a:solidFill>
              </a:rPr>
              <a:t>Zero to One  第9章</a:t>
            </a:r>
          </a:p>
        </p:txBody>
      </p:sp>
      <p:sp>
        <p:nvSpPr>
          <p:cNvPr id="4" name="TextBox 3"/>
          <p:cNvSpPr txBox="1"/>
          <p:nvPr/>
        </p:nvSpPr>
        <p:spPr>
          <a:xfrm>
            <a:off x="640080" y="566928"/>
            <a:ext cx="10972800" cy="914400"/>
          </a:xfrm>
          <a:prstGeom prst="rect">
            <a:avLst/>
          </a:prstGeom>
          <a:noFill/>
        </p:spPr>
        <p:txBody>
          <a:bodyPr wrap="square">
            <a:spAutoFit/>
          </a:bodyPr>
          <a:lstStyle/>
          <a:p>
            <a:pPr algn="l"/>
            <a:r>
              <a:rPr sz="4600" b="1" i="0">
                <a:solidFill>
                  <a:srgbClr val="1A2E5C"/>
                </a:solidFill>
              </a:rPr>
              <a:t>ティールの法則</a:t>
            </a:r>
          </a:p>
        </p:txBody>
      </p:sp>
      <p:sp>
        <p:nvSpPr>
          <p:cNvPr id="5" name="Rectangle 4"/>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691640"/>
            <a:ext cx="10607040" cy="1463040"/>
          </a:xfrm>
          <a:prstGeom prst="rect">
            <a:avLst/>
          </a:prstGeom>
          <a:solidFill>
            <a:srgbClr val="E8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64792"/>
            <a:ext cx="10058400" cy="384048"/>
          </a:xfrm>
          <a:prstGeom prst="rect">
            <a:avLst/>
          </a:prstGeom>
          <a:noFill/>
        </p:spPr>
        <p:txBody>
          <a:bodyPr wrap="square">
            <a:spAutoFit/>
          </a:bodyPr>
          <a:lstStyle/>
          <a:p>
            <a:pPr algn="l"/>
            <a:r>
              <a:rPr sz="1400" b="1" i="0">
                <a:solidFill>
                  <a:srgbClr val="008B8B"/>
                </a:solidFill>
              </a:rPr>
              <a:t>この章が伝えること</a:t>
            </a:r>
          </a:p>
        </p:txBody>
      </p:sp>
      <p:sp>
        <p:nvSpPr>
          <p:cNvPr id="8" name="TextBox 7"/>
          <p:cNvSpPr txBox="1"/>
          <p:nvPr/>
        </p:nvSpPr>
        <p:spPr>
          <a:xfrm>
            <a:off x="822960" y="2121408"/>
            <a:ext cx="10058400" cy="914400"/>
          </a:xfrm>
          <a:prstGeom prst="rect">
            <a:avLst/>
          </a:prstGeom>
          <a:noFill/>
        </p:spPr>
        <p:txBody>
          <a:bodyPr wrap="square">
            <a:spAutoFit/>
          </a:bodyPr>
          <a:lstStyle/>
          <a:p>
            <a:pPr algn="l"/>
            <a:r>
              <a:rPr sz="1800" b="0" i="0">
                <a:solidFill>
                  <a:srgbClr val="1E1E1E"/>
                </a:solidFill>
              </a:rPr>
              <a:t>宇宙の誕生も、アメリカ憲法も、企業も——始まりの瞬間に決まったことはその後ほとんど変わらない。
だから創業者の第一の仕事は「最初に正しくやること」。土台に欠陥があれば、偉大な企業は築けない。</a:t>
            </a:r>
          </a:p>
        </p:txBody>
      </p:sp>
      <p:sp>
        <p:nvSpPr>
          <p:cNvPr id="9" name="TextBox 8"/>
          <p:cNvSpPr txBox="1"/>
          <p:nvPr/>
        </p:nvSpPr>
        <p:spPr>
          <a:xfrm>
            <a:off x="640080" y="3337560"/>
            <a:ext cx="10972800" cy="365760"/>
          </a:xfrm>
          <a:prstGeom prst="rect">
            <a:avLst/>
          </a:prstGeom>
          <a:noFill/>
        </p:spPr>
        <p:txBody>
          <a:bodyPr wrap="square">
            <a:spAutoFit/>
          </a:bodyPr>
          <a:lstStyle/>
          <a:p>
            <a:pPr algn="l"/>
            <a:r>
              <a:rPr sz="1400" b="1" i="0">
                <a:solidFill>
                  <a:srgbClr val="555555"/>
                </a:solidFill>
              </a:rPr>
              <a:t>そのために創業時に設計すべきこと</a:t>
            </a:r>
          </a:p>
        </p:txBody>
      </p:sp>
      <p:sp>
        <p:nvSpPr>
          <p:cNvPr id="10" name="Rectangle 9"/>
          <p:cNvSpPr/>
          <p:nvPr/>
        </p:nvSpPr>
        <p:spPr>
          <a:xfrm>
            <a:off x="594360" y="3703320"/>
            <a:ext cx="260604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3794760"/>
            <a:ext cx="2395728" cy="530352"/>
          </a:xfrm>
          <a:prstGeom prst="rect">
            <a:avLst/>
          </a:prstGeom>
          <a:noFill/>
        </p:spPr>
        <p:txBody>
          <a:bodyPr wrap="square">
            <a:spAutoFit/>
          </a:bodyPr>
          <a:lstStyle/>
          <a:p>
            <a:pPr algn="l"/>
            <a:r>
              <a:rPr sz="1500" b="1" i="0">
                <a:solidFill>
                  <a:srgbClr val="1A2E5C"/>
                </a:solidFill>
              </a:rPr>
              <a:t>誰と始めるか</a:t>
            </a:r>
          </a:p>
        </p:txBody>
      </p:sp>
      <p:sp>
        <p:nvSpPr>
          <p:cNvPr id="12" name="TextBox 11"/>
          <p:cNvSpPr txBox="1"/>
          <p:nvPr/>
        </p:nvSpPr>
        <p:spPr>
          <a:xfrm>
            <a:off x="704088" y="4325112"/>
            <a:ext cx="2395728" cy="731520"/>
          </a:xfrm>
          <a:prstGeom prst="rect">
            <a:avLst/>
          </a:prstGeom>
          <a:noFill/>
        </p:spPr>
        <p:txBody>
          <a:bodyPr wrap="square">
            <a:spAutoFit/>
          </a:bodyPr>
          <a:lstStyle/>
          <a:p>
            <a:pPr algn="l"/>
            <a:r>
              <a:rPr sz="1300" b="0" i="0">
                <a:solidFill>
                  <a:srgbClr val="555555"/>
                </a:solidFill>
              </a:rPr>
              <a:t>共同創業者選びは結婚に近い</a:t>
            </a:r>
          </a:p>
        </p:txBody>
      </p:sp>
      <p:sp>
        <p:nvSpPr>
          <p:cNvPr id="13" name="Rectangle 12"/>
          <p:cNvSpPr/>
          <p:nvPr/>
        </p:nvSpPr>
        <p:spPr>
          <a:xfrm>
            <a:off x="3429000" y="3703320"/>
            <a:ext cx="260604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38728" y="3794760"/>
            <a:ext cx="2395728" cy="530352"/>
          </a:xfrm>
          <a:prstGeom prst="rect">
            <a:avLst/>
          </a:prstGeom>
          <a:noFill/>
        </p:spPr>
        <p:txBody>
          <a:bodyPr wrap="square">
            <a:spAutoFit/>
          </a:bodyPr>
          <a:lstStyle/>
          <a:p>
            <a:pPr algn="l"/>
            <a:r>
              <a:rPr sz="1500" b="1" i="0">
                <a:solidFill>
                  <a:srgbClr val="1A2E5C"/>
                </a:solidFill>
              </a:rPr>
              <a:t>取締役会を小さくする</a:t>
            </a:r>
          </a:p>
        </p:txBody>
      </p:sp>
      <p:sp>
        <p:nvSpPr>
          <p:cNvPr id="15" name="TextBox 14"/>
          <p:cNvSpPr txBox="1"/>
          <p:nvPr/>
        </p:nvSpPr>
        <p:spPr>
          <a:xfrm>
            <a:off x="3538728" y="4325112"/>
            <a:ext cx="2395728" cy="731520"/>
          </a:xfrm>
          <a:prstGeom prst="rect">
            <a:avLst/>
          </a:prstGeom>
          <a:noFill/>
        </p:spPr>
        <p:txBody>
          <a:bodyPr wrap="square">
            <a:spAutoFit/>
          </a:bodyPr>
          <a:lstStyle/>
          <a:p>
            <a:pPr algn="l"/>
            <a:r>
              <a:rPr sz="1300" b="0" i="0">
                <a:solidFill>
                  <a:srgbClr val="555555"/>
                </a:solidFill>
              </a:rPr>
              <a:t>全体最適な意思決定をできる人を作る</a:t>
            </a:r>
          </a:p>
        </p:txBody>
      </p:sp>
      <p:sp>
        <p:nvSpPr>
          <p:cNvPr id="16" name="Rectangle 15"/>
          <p:cNvSpPr/>
          <p:nvPr/>
        </p:nvSpPr>
        <p:spPr>
          <a:xfrm>
            <a:off x="6263640" y="3703320"/>
            <a:ext cx="260604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3794760"/>
            <a:ext cx="2395728" cy="530352"/>
          </a:xfrm>
          <a:prstGeom prst="rect">
            <a:avLst/>
          </a:prstGeom>
          <a:noFill/>
        </p:spPr>
        <p:txBody>
          <a:bodyPr wrap="square">
            <a:spAutoFit/>
          </a:bodyPr>
          <a:lstStyle/>
          <a:p>
            <a:pPr algn="l"/>
            <a:r>
              <a:rPr sz="1500" b="1" i="0">
                <a:solidFill>
                  <a:srgbClr val="1A2E5C"/>
                </a:solidFill>
              </a:rPr>
              <a:t>インセンティブ設計</a:t>
            </a:r>
          </a:p>
        </p:txBody>
      </p:sp>
      <p:sp>
        <p:nvSpPr>
          <p:cNvPr id="18" name="TextBox 17"/>
          <p:cNvSpPr txBox="1"/>
          <p:nvPr/>
        </p:nvSpPr>
        <p:spPr>
          <a:xfrm>
            <a:off x="6373368" y="4325112"/>
            <a:ext cx="2395728" cy="731520"/>
          </a:xfrm>
          <a:prstGeom prst="rect">
            <a:avLst/>
          </a:prstGeom>
          <a:noFill/>
        </p:spPr>
        <p:txBody>
          <a:bodyPr wrap="square">
            <a:spAutoFit/>
          </a:bodyPr>
          <a:lstStyle/>
          <a:p>
            <a:pPr algn="l"/>
            <a:r>
              <a:rPr sz="1300" b="0" i="0">
                <a:solidFill>
                  <a:srgbClr val="555555"/>
                </a:solidFill>
              </a:rPr>
              <a:t>CEOの給料が低いほど会社はうまくいく</a:t>
            </a:r>
          </a:p>
        </p:txBody>
      </p:sp>
      <p:sp>
        <p:nvSpPr>
          <p:cNvPr id="19" name="Rectangle 18"/>
          <p:cNvSpPr/>
          <p:nvPr/>
        </p:nvSpPr>
        <p:spPr>
          <a:xfrm>
            <a:off x="9098280" y="3703320"/>
            <a:ext cx="2606040" cy="1463040"/>
          </a:xfrm>
          <a:prstGeom prst="rect">
            <a:avLst/>
          </a:prstGeom>
          <a:solidFill>
            <a:srgbClr val="F0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3794760"/>
            <a:ext cx="2395728" cy="530352"/>
          </a:xfrm>
          <a:prstGeom prst="rect">
            <a:avLst/>
          </a:prstGeom>
          <a:noFill/>
        </p:spPr>
        <p:txBody>
          <a:bodyPr wrap="square">
            <a:spAutoFit/>
          </a:bodyPr>
          <a:lstStyle/>
          <a:p>
            <a:pPr algn="l"/>
            <a:r>
              <a:rPr sz="1500" b="1" i="0">
                <a:solidFill>
                  <a:srgbClr val="1A2E5C"/>
                </a:solidFill>
              </a:rPr>
              <a:t>フルタイムと長期コミット</a:t>
            </a:r>
          </a:p>
        </p:txBody>
      </p:sp>
      <p:sp>
        <p:nvSpPr>
          <p:cNvPr id="21" name="TextBox 20"/>
          <p:cNvSpPr txBox="1"/>
          <p:nvPr/>
        </p:nvSpPr>
        <p:spPr>
          <a:xfrm>
            <a:off x="9208008" y="4325112"/>
            <a:ext cx="2395728" cy="731520"/>
          </a:xfrm>
          <a:prstGeom prst="rect">
            <a:avLst/>
          </a:prstGeom>
          <a:noFill/>
        </p:spPr>
        <p:txBody>
          <a:bodyPr wrap="square">
            <a:spAutoFit/>
          </a:bodyPr>
          <a:lstStyle/>
          <a:p>
            <a:pPr algn="l"/>
            <a:r>
              <a:rPr sz="1300" b="0" i="0">
                <a:solidFill>
                  <a:srgbClr val="555555"/>
                </a:solidFill>
              </a:rPr>
              <a:t>バスに乗るか、乗らないかの二択</a:t>
            </a:r>
          </a:p>
        </p:txBody>
      </p:sp>
      <p:sp>
        <p:nvSpPr>
          <p:cNvPr id="22" name="Rectangle 21"/>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共同創業者選び</a:t>
            </a:r>
          </a:p>
        </p:txBody>
      </p:sp>
      <p:sp>
        <p:nvSpPr>
          <p:cNvPr id="4" name="TextBox 3"/>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ラスベガスのスロットマシン</a:t>
            </a:r>
          </a:p>
        </p:txBody>
      </p:sp>
      <p:sp>
        <p:nvSpPr>
          <p:cNvPr id="5" name="Rectangle 4"/>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4208"/>
            <a:ext cx="10515600" cy="475488"/>
          </a:xfrm>
          <a:prstGeom prst="rect">
            <a:avLst/>
          </a:prstGeom>
          <a:noFill/>
        </p:spPr>
        <p:txBody>
          <a:bodyPr wrap="square">
            <a:spAutoFit/>
          </a:bodyPr>
          <a:lstStyle/>
          <a:p>
            <a:pPr algn="l"/>
            <a:r>
              <a:rPr sz="1800" b="0" i="0">
                <a:solidFill>
                  <a:srgbClr val="1E1E1E"/>
                </a:solidFill>
              </a:rPr>
              <a:t>ルーク・ノゼック（ペイパル共同創業者）は、ペイパルの1年前に別の会社を立ち上げた。</a:t>
            </a:r>
          </a:p>
        </p:txBody>
      </p:sp>
      <p:sp>
        <p:nvSpPr>
          <p:cNvPr id="7" name="TextBox 6"/>
          <p:cNvSpPr txBox="1"/>
          <p:nvPr/>
        </p:nvSpPr>
        <p:spPr>
          <a:xfrm>
            <a:off x="640080" y="2212848"/>
            <a:ext cx="10515600" cy="603504"/>
          </a:xfrm>
          <a:prstGeom prst="rect">
            <a:avLst/>
          </a:prstGeom>
          <a:noFill/>
        </p:spPr>
        <p:txBody>
          <a:bodyPr wrap="square">
            <a:spAutoFit/>
          </a:bodyPr>
          <a:lstStyle/>
          <a:p>
            <a:pPr algn="l"/>
            <a:r>
              <a:rPr sz="1700" b="0" i="0">
                <a:solidFill>
                  <a:srgbClr val="1E1E1E"/>
                </a:solidFill>
              </a:rPr>
              <a:t>• 相手は90年代のインターネットブームに乗り遅れまいとするMBAタイプ。ネットワーキングイベントで出会い、「チャンスを逃すな」という焦りのまま即起業した</a:t>
            </a:r>
          </a:p>
        </p:txBody>
      </p:sp>
      <p:sp>
        <p:nvSpPr>
          <p:cNvPr id="8" name="TextBox 7"/>
          <p:cNvSpPr txBox="1"/>
          <p:nvPr/>
        </p:nvSpPr>
        <p:spPr>
          <a:xfrm>
            <a:off x="640080" y="2724912"/>
            <a:ext cx="10515600" cy="603504"/>
          </a:xfrm>
          <a:prstGeom prst="rect">
            <a:avLst/>
          </a:prstGeom>
          <a:noFill/>
        </p:spPr>
        <p:txBody>
          <a:bodyPr wrap="square">
            <a:spAutoFit/>
          </a:bodyPr>
          <a:lstStyle/>
          <a:p>
            <a:pPr algn="l"/>
            <a:r>
              <a:rPr sz="1700" b="0" i="0">
                <a:solidFill>
                  <a:srgbClr val="1E1E1E"/>
                </a:solidFill>
              </a:rPr>
              <a:t>• 過去の仕事経験も共有していなければ、お互いを深く知る時間もなかった</a:t>
            </a:r>
          </a:p>
        </p:txBody>
      </p:sp>
      <p:sp>
        <p:nvSpPr>
          <p:cNvPr id="9" name="TextBox 8"/>
          <p:cNvSpPr txBox="1"/>
          <p:nvPr/>
        </p:nvSpPr>
        <p:spPr>
          <a:xfrm>
            <a:off x="640080" y="3236976"/>
            <a:ext cx="10515600" cy="603504"/>
          </a:xfrm>
          <a:prstGeom prst="rect">
            <a:avLst/>
          </a:prstGeom>
          <a:noFill/>
        </p:spPr>
        <p:txBody>
          <a:bodyPr wrap="square">
            <a:spAutoFit/>
          </a:bodyPr>
          <a:lstStyle/>
          <a:p>
            <a:pPr algn="l"/>
            <a:r>
              <a:rPr sz="1700" b="0" i="0">
                <a:solidFill>
                  <a:srgbClr val="1E1E1E"/>
                </a:solidFill>
              </a:rPr>
              <a:t>• ティールも当時は気づかなかったが、「最初から失敗する運命にあった」</a:t>
            </a:r>
          </a:p>
        </p:txBody>
      </p:sp>
      <p:sp>
        <p:nvSpPr>
          <p:cNvPr id="10" name="Rectangle 9"/>
          <p:cNvSpPr/>
          <p:nvPr/>
        </p:nvSpPr>
        <p:spPr>
          <a:xfrm>
            <a:off x="640080" y="3794760"/>
            <a:ext cx="10607040" cy="68580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886200"/>
            <a:ext cx="10149840" cy="502920"/>
          </a:xfrm>
          <a:prstGeom prst="rect">
            <a:avLst/>
          </a:prstGeom>
          <a:noFill/>
        </p:spPr>
        <p:txBody>
          <a:bodyPr wrap="square">
            <a:spAutoFit/>
          </a:bodyPr>
          <a:lstStyle/>
          <a:p>
            <a:pPr algn="l"/>
            <a:r>
              <a:rPr sz="1800" b="0" i="1">
                <a:solidFill>
                  <a:srgbClr val="1E1E1E"/>
                </a:solidFill>
              </a:rPr>
              <a:t>「ラスベガスのスロットマシンで隣に座った人と結婚するのとそう変わらない」</a:t>
            </a:r>
          </a:p>
        </p:txBody>
      </p:sp>
      <p:sp>
        <p:nvSpPr>
          <p:cNvPr id="12" name="TextBox 11"/>
          <p:cNvSpPr txBox="1"/>
          <p:nvPr/>
        </p:nvSpPr>
        <p:spPr>
          <a:xfrm>
            <a:off x="640080" y="4617720"/>
            <a:ext cx="10515600" cy="384048"/>
          </a:xfrm>
          <a:prstGeom prst="rect">
            <a:avLst/>
          </a:prstGeom>
          <a:noFill/>
        </p:spPr>
        <p:txBody>
          <a:bodyPr wrap="square">
            <a:spAutoFit/>
          </a:bodyPr>
          <a:lstStyle/>
          <a:p>
            <a:pPr algn="l"/>
            <a:r>
              <a:rPr sz="1700" b="0" i="0">
                <a:solidFill>
                  <a:srgbClr val="1E1E1E"/>
                </a:solidFill>
              </a:rPr>
              <a:t>会社は空中で分解。ティールは大損した。</a:t>
            </a:r>
          </a:p>
        </p:txBody>
      </p:sp>
      <p:sp>
        <p:nvSpPr>
          <p:cNvPr id="13" name="TextBox 12"/>
          <p:cNvSpPr txBox="1"/>
          <p:nvPr/>
        </p:nvSpPr>
        <p:spPr>
          <a:xfrm>
            <a:off x="640080" y="5029200"/>
            <a:ext cx="10515600" cy="438912"/>
          </a:xfrm>
          <a:prstGeom prst="rect">
            <a:avLst/>
          </a:prstGeom>
          <a:noFill/>
        </p:spPr>
        <p:txBody>
          <a:bodyPr wrap="square">
            <a:spAutoFit/>
          </a:bodyPr>
          <a:lstStyle/>
          <a:p>
            <a:pPr algn="l"/>
            <a:r>
              <a:rPr sz="1700" b="1" i="0">
                <a:solidFill>
                  <a:srgbClr val="1A2E5C"/>
                </a:solidFill>
              </a:rPr>
              <a:t>技術力だけでなく、起業前に経験を共有しているかが問われる。そうでなければサイコロを振るようなものだ。</a:t>
            </a:r>
          </a:p>
        </p:txBody>
      </p:sp>
      <p:sp>
        <p:nvSpPr>
          <p:cNvPr id="14" name="Rectangle 13"/>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組織設計</a:t>
            </a:r>
          </a:p>
        </p:txBody>
      </p:sp>
      <p:sp>
        <p:nvSpPr>
          <p:cNvPr id="4" name="TextBox 3"/>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取締役会は小さくすべき</a:t>
            </a:r>
          </a:p>
        </p:txBody>
      </p:sp>
      <p:sp>
        <p:nvSpPr>
          <p:cNvPr id="5" name="Rectangle 4"/>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4208"/>
            <a:ext cx="10515600" cy="594360"/>
          </a:xfrm>
          <a:prstGeom prst="rect">
            <a:avLst/>
          </a:prstGeom>
          <a:noFill/>
        </p:spPr>
        <p:txBody>
          <a:bodyPr wrap="square">
            <a:spAutoFit/>
          </a:bodyPr>
          <a:lstStyle/>
          <a:p>
            <a:pPr algn="l"/>
            <a:r>
              <a:rPr sz="1800" b="0" i="0">
                <a:solidFill>
                  <a:srgbClr val="1E1E1E"/>
                </a:solidFill>
              </a:rPr>
              <a:t>所有（投資家）・経営（創業者）・統治（取締役会）が別々に分かれると、全体を見て大きな意思決定をする人がいなくなる。</a:t>
            </a:r>
          </a:p>
        </p:txBody>
      </p:sp>
      <p:sp>
        <p:nvSpPr>
          <p:cNvPr id="7" name="TextBox 6"/>
          <p:cNvSpPr txBox="1"/>
          <p:nvPr/>
        </p:nvSpPr>
        <p:spPr>
          <a:xfrm>
            <a:off x="640080" y="2331720"/>
            <a:ext cx="10515600" cy="548640"/>
          </a:xfrm>
          <a:prstGeom prst="rect">
            <a:avLst/>
          </a:prstGeom>
          <a:noFill/>
        </p:spPr>
        <p:txBody>
          <a:bodyPr wrap="square">
            <a:spAutoFit/>
          </a:bodyPr>
          <a:lstStyle/>
          <a:p>
            <a:pPr algn="l"/>
            <a:r>
              <a:rPr sz="1800" b="0" i="0">
                <a:solidFill>
                  <a:srgbClr val="1E1E1E"/>
                </a:solidFill>
              </a:rPr>
              <a:t>• 投資家は自分のファンドの成績を優先して早期上場を求める</a:t>
            </a:r>
          </a:p>
        </p:txBody>
      </p:sp>
      <p:sp>
        <p:nvSpPr>
          <p:cNvPr id="8" name="TextBox 7"/>
          <p:cNvSpPr txBox="1"/>
          <p:nvPr/>
        </p:nvSpPr>
        <p:spPr>
          <a:xfrm>
            <a:off x="640080" y="2788920"/>
            <a:ext cx="10515600" cy="548640"/>
          </a:xfrm>
          <a:prstGeom prst="rect">
            <a:avLst/>
          </a:prstGeom>
          <a:noFill/>
        </p:spPr>
        <p:txBody>
          <a:bodyPr wrap="square">
            <a:spAutoFit/>
          </a:bodyPr>
          <a:lstStyle/>
          <a:p>
            <a:pPr algn="l"/>
            <a:r>
              <a:rPr sz="1800" b="0" i="0">
                <a:solidFill>
                  <a:srgbClr val="1E1E1E"/>
                </a:solidFill>
              </a:rPr>
              <a:t>• 創業者は未上場のまま長期成長を目指したい</a:t>
            </a:r>
          </a:p>
        </p:txBody>
      </p:sp>
      <p:sp>
        <p:nvSpPr>
          <p:cNvPr id="9" name="TextBox 8"/>
          <p:cNvSpPr txBox="1"/>
          <p:nvPr/>
        </p:nvSpPr>
        <p:spPr>
          <a:xfrm>
            <a:off x="640080" y="3246120"/>
            <a:ext cx="10515600" cy="548640"/>
          </a:xfrm>
          <a:prstGeom prst="rect">
            <a:avLst/>
          </a:prstGeom>
          <a:noFill/>
        </p:spPr>
        <p:txBody>
          <a:bodyPr wrap="square">
            <a:spAutoFit/>
          </a:bodyPr>
          <a:lstStyle/>
          <a:p>
            <a:pPr algn="l"/>
            <a:r>
              <a:rPr sz="1800" b="0" i="0">
                <a:solidFill>
                  <a:srgbClr val="1E1E1E"/>
                </a:solidFill>
              </a:rPr>
              <a:t>• 取締役が増えるほど責任が分散し、誰も本気で動けなくなる</a:t>
            </a:r>
          </a:p>
        </p:txBody>
      </p:sp>
      <p:sp>
        <p:nvSpPr>
          <p:cNvPr id="10" name="Rectangle 9"/>
          <p:cNvSpPr/>
          <p:nvPr/>
        </p:nvSpPr>
        <p:spPr>
          <a:xfrm>
            <a:off x="640080" y="3767328"/>
            <a:ext cx="10607040" cy="566928"/>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858768"/>
            <a:ext cx="10058400" cy="438912"/>
          </a:xfrm>
          <a:prstGeom prst="rect">
            <a:avLst/>
          </a:prstGeom>
          <a:noFill/>
        </p:spPr>
        <p:txBody>
          <a:bodyPr wrap="square">
            <a:spAutoFit/>
          </a:bodyPr>
          <a:lstStyle/>
          <a:p>
            <a:pPr algn="l"/>
            <a:r>
              <a:rPr sz="1800" b="0" i="1">
                <a:solidFill>
                  <a:srgbClr val="880000"/>
                </a:solidFill>
              </a:rPr>
              <a:t>責任が分断されると「監督しているようで誰も何もしない」状態に陥る。</a:t>
            </a:r>
          </a:p>
        </p:txBody>
      </p:sp>
      <p:sp>
        <p:nvSpPr>
          <p:cNvPr id="12" name="TextBox 11"/>
          <p:cNvSpPr txBox="1"/>
          <p:nvPr/>
        </p:nvSpPr>
        <p:spPr>
          <a:xfrm>
            <a:off x="640080" y="4462272"/>
            <a:ext cx="10515600" cy="457200"/>
          </a:xfrm>
          <a:prstGeom prst="rect">
            <a:avLst/>
          </a:prstGeom>
          <a:noFill/>
        </p:spPr>
        <p:txBody>
          <a:bodyPr wrap="square">
            <a:spAutoFit/>
          </a:bodyPr>
          <a:lstStyle/>
          <a:p>
            <a:pPr algn="l"/>
            <a:r>
              <a:rPr sz="1900" b="1" i="0">
                <a:solidFill>
                  <a:srgbClr val="1A2E5C"/>
                </a:solidFill>
              </a:rPr>
              <a:t>だから取締役会は小さくする。3人が理想、上場前は5人を超えてはならない。</a:t>
            </a:r>
          </a:p>
        </p:txBody>
      </p:sp>
      <p:sp>
        <p:nvSpPr>
          <p:cNvPr id="13" name="TextBox 12"/>
          <p:cNvSpPr txBox="1"/>
          <p:nvPr/>
        </p:nvSpPr>
        <p:spPr>
          <a:xfrm>
            <a:off x="640080" y="4983480"/>
            <a:ext cx="10515600" cy="658368"/>
          </a:xfrm>
          <a:prstGeom prst="rect">
            <a:avLst/>
          </a:prstGeom>
          <a:noFill/>
        </p:spPr>
        <p:txBody>
          <a:bodyPr wrap="square">
            <a:spAutoFit/>
          </a:bodyPr>
          <a:lstStyle/>
          <a:p>
            <a:pPr algn="l"/>
            <a:r>
              <a:rPr sz="1700" b="0" i="0">
                <a:solidFill>
                  <a:srgbClr val="555555"/>
                </a:solidFill>
              </a:rPr>
              <a:t>人数が少ないほど意思疎通が速く、責任の所在が明確で、全体を見て動ける人間が生まれやすい。問題のある取締役が1人でもいると会社の将来を傷つけかねないため、誰を入れるかが極めて重要。</a:t>
            </a:r>
          </a:p>
        </p:txBody>
      </p:sp>
      <p:sp>
        <p:nvSpPr>
          <p:cNvPr id="14" name="Rectangle 13"/>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インセンティブ設計</a:t>
            </a:r>
          </a:p>
        </p:txBody>
      </p:sp>
      <p:sp>
        <p:nvSpPr>
          <p:cNvPr id="4" name="TextBox 3"/>
          <p:cNvSpPr txBox="1"/>
          <p:nvPr/>
        </p:nvSpPr>
        <p:spPr>
          <a:xfrm>
            <a:off x="640080" y="621792"/>
            <a:ext cx="10972800" cy="868680"/>
          </a:xfrm>
          <a:prstGeom prst="rect">
            <a:avLst/>
          </a:prstGeom>
          <a:noFill/>
        </p:spPr>
        <p:txBody>
          <a:bodyPr wrap="square">
            <a:spAutoFit/>
          </a:bodyPr>
          <a:lstStyle/>
          <a:p>
            <a:pPr algn="l"/>
            <a:r>
              <a:rPr sz="3600" b="1" i="0">
                <a:solidFill>
                  <a:srgbClr val="1A2E5C"/>
                </a:solidFill>
              </a:rPr>
              <a:t>アーロン・レヴィのマットレス生活</a:t>
            </a:r>
          </a:p>
        </p:txBody>
      </p:sp>
      <p:sp>
        <p:nvSpPr>
          <p:cNvPr id="5" name="Rectangle 4"/>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4208"/>
            <a:ext cx="10515600" cy="777240"/>
          </a:xfrm>
          <a:prstGeom prst="rect">
            <a:avLst/>
          </a:prstGeom>
          <a:noFill/>
        </p:spPr>
        <p:txBody>
          <a:bodyPr wrap="square">
            <a:spAutoFit/>
          </a:bodyPr>
          <a:lstStyle/>
          <a:p>
            <a:pPr algn="l"/>
            <a:r>
              <a:rPr sz="1800" b="0" i="0">
                <a:solidFill>
                  <a:srgbClr val="1E1E1E"/>
                </a:solidFill>
              </a:rPr>
              <a:t>現金報酬は「今の企業価値を分け与える」だけで、未来を作るインセンティブにならない。高い給料をもらえば、現状維持が個人の得になる。だからインセンティブは、会社の将来価値を上げることに向くよう設計しなければならない。</a:t>
            </a:r>
          </a:p>
        </p:txBody>
      </p:sp>
      <p:sp>
        <p:nvSpPr>
          <p:cNvPr id="7" name="TextBox 6"/>
          <p:cNvSpPr txBox="1"/>
          <p:nvPr/>
        </p:nvSpPr>
        <p:spPr>
          <a:xfrm>
            <a:off x="640080" y="2514600"/>
            <a:ext cx="10515600" cy="438912"/>
          </a:xfrm>
          <a:prstGeom prst="rect">
            <a:avLst/>
          </a:prstGeom>
          <a:noFill/>
        </p:spPr>
        <p:txBody>
          <a:bodyPr wrap="square">
            <a:spAutoFit/>
          </a:bodyPr>
          <a:lstStyle/>
          <a:p>
            <a:pPr algn="l"/>
            <a:r>
              <a:rPr sz="1800" b="0" i="0">
                <a:solidFill>
                  <a:srgbClr val="1E1E1E"/>
                </a:solidFill>
              </a:rPr>
              <a:t>その手段のひとつが、創業期のCEOは給料を低く抑えること。</a:t>
            </a:r>
          </a:p>
        </p:txBody>
      </p:sp>
      <p:sp>
        <p:nvSpPr>
          <p:cNvPr id="8" name="TextBox 7"/>
          <p:cNvSpPr txBox="1"/>
          <p:nvPr/>
        </p:nvSpPr>
        <p:spPr>
          <a:xfrm>
            <a:off x="640080" y="2971800"/>
            <a:ext cx="10515600" cy="457200"/>
          </a:xfrm>
          <a:prstGeom prst="rect">
            <a:avLst/>
          </a:prstGeom>
          <a:noFill/>
        </p:spPr>
        <p:txBody>
          <a:bodyPr wrap="square">
            <a:spAutoFit/>
          </a:bodyPr>
          <a:lstStyle/>
          <a:p>
            <a:pPr algn="l"/>
            <a:r>
              <a:rPr sz="1700" b="0" i="1">
                <a:solidFill>
                  <a:srgbClr val="555555"/>
                </a:solidFill>
              </a:rPr>
              <a:t>「CEOが年間30万ドル以上もらっていると、創業者ではなく政治家のようになってくる」</a:t>
            </a:r>
          </a:p>
        </p:txBody>
      </p:sp>
      <p:sp>
        <p:nvSpPr>
          <p:cNvPr id="9" name="TextBox 8"/>
          <p:cNvSpPr txBox="1"/>
          <p:nvPr/>
        </p:nvSpPr>
        <p:spPr>
          <a:xfrm>
            <a:off x="640080" y="3547872"/>
            <a:ext cx="10515600" cy="411480"/>
          </a:xfrm>
          <a:prstGeom prst="rect">
            <a:avLst/>
          </a:prstGeom>
          <a:noFill/>
        </p:spPr>
        <p:txBody>
          <a:bodyPr wrap="square">
            <a:spAutoFit/>
          </a:bodyPr>
          <a:lstStyle/>
          <a:p>
            <a:pPr algn="l"/>
            <a:r>
              <a:rPr sz="1800" b="0" i="0">
                <a:solidFill>
                  <a:srgbClr val="1E1E1E"/>
                </a:solidFill>
              </a:rPr>
              <a:t>Box CEO アーロン・レヴィはその体現者だった。創業から4年後も——</a:t>
            </a:r>
          </a:p>
        </p:txBody>
      </p:sp>
      <p:sp>
        <p:nvSpPr>
          <p:cNvPr id="10" name="TextBox 9"/>
          <p:cNvSpPr txBox="1"/>
          <p:nvPr/>
        </p:nvSpPr>
        <p:spPr>
          <a:xfrm>
            <a:off x="640080" y="4005072"/>
            <a:ext cx="10515600" cy="512064"/>
          </a:xfrm>
          <a:prstGeom prst="rect">
            <a:avLst/>
          </a:prstGeom>
          <a:noFill/>
        </p:spPr>
        <p:txBody>
          <a:bodyPr wrap="square">
            <a:spAutoFit/>
          </a:bodyPr>
          <a:lstStyle/>
          <a:p>
            <a:pPr algn="l"/>
            <a:r>
              <a:rPr sz="1800" b="0" i="0">
                <a:solidFill>
                  <a:srgbClr val="1E1E1E"/>
                </a:solidFill>
              </a:rPr>
              <a:t>• 自分の給料を社内最低に設定し続けた</a:t>
            </a:r>
          </a:p>
        </p:txBody>
      </p:sp>
      <p:sp>
        <p:nvSpPr>
          <p:cNvPr id="11" name="TextBox 10"/>
          <p:cNvSpPr txBox="1"/>
          <p:nvPr/>
        </p:nvSpPr>
        <p:spPr>
          <a:xfrm>
            <a:off x="640080" y="4425696"/>
            <a:ext cx="10515600" cy="512064"/>
          </a:xfrm>
          <a:prstGeom prst="rect">
            <a:avLst/>
          </a:prstGeom>
          <a:noFill/>
        </p:spPr>
        <p:txBody>
          <a:bodyPr wrap="square">
            <a:spAutoFit/>
          </a:bodyPr>
          <a:lstStyle/>
          <a:p>
            <a:pPr algn="l"/>
            <a:r>
              <a:rPr sz="1800" b="0" i="0">
                <a:solidFill>
                  <a:srgbClr val="1E1E1E"/>
                </a:solidFill>
              </a:rPr>
              <a:t>• 本社から2ブロック離れた1部屋のアパートに住んでいた</a:t>
            </a:r>
          </a:p>
        </p:txBody>
      </p:sp>
      <p:sp>
        <p:nvSpPr>
          <p:cNvPr id="12" name="TextBox 11"/>
          <p:cNvSpPr txBox="1"/>
          <p:nvPr/>
        </p:nvSpPr>
        <p:spPr>
          <a:xfrm>
            <a:off x="640080" y="4846320"/>
            <a:ext cx="10515600" cy="512064"/>
          </a:xfrm>
          <a:prstGeom prst="rect">
            <a:avLst/>
          </a:prstGeom>
          <a:noFill/>
        </p:spPr>
        <p:txBody>
          <a:bodyPr wrap="square">
            <a:spAutoFit/>
          </a:bodyPr>
          <a:lstStyle/>
          <a:p>
            <a:pPr algn="l"/>
            <a:r>
              <a:rPr sz="1800" b="0" i="0">
                <a:solidFill>
                  <a:srgbClr val="1E1E1E"/>
                </a:solidFill>
              </a:rPr>
              <a:t>• 家具はマットレス1枚だけ</a:t>
            </a:r>
          </a:p>
        </p:txBody>
      </p:sp>
      <p:sp>
        <p:nvSpPr>
          <p:cNvPr id="13" name="Rectangle 12"/>
          <p:cNvSpPr/>
          <p:nvPr/>
        </p:nvSpPr>
        <p:spPr>
          <a:xfrm>
            <a:off x="640080" y="5340096"/>
            <a:ext cx="10607040" cy="566928"/>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431536"/>
            <a:ext cx="10058400" cy="438912"/>
          </a:xfrm>
          <a:prstGeom prst="rect">
            <a:avLst/>
          </a:prstGeom>
          <a:noFill/>
        </p:spPr>
        <p:txBody>
          <a:bodyPr wrap="square">
            <a:spAutoFit/>
          </a:bodyPr>
          <a:lstStyle/>
          <a:p>
            <a:pPr algn="l"/>
            <a:r>
              <a:rPr sz="1800" b="0" i="1">
                <a:solidFill>
                  <a:srgbClr val="1E1E1E"/>
                </a:solidFill>
              </a:rPr>
              <a:t>「社員全員がアーロンの打ち込みように気づき、それを手本にした」</a:t>
            </a:r>
          </a:p>
        </p:txBody>
      </p:sp>
      <p:sp>
        <p:nvSpPr>
          <p:cNvPr id="15" name="Rectangle 14"/>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フルタイムと長期コミット</a:t>
            </a:r>
          </a:p>
        </p:txBody>
      </p:sp>
      <p:sp>
        <p:nvSpPr>
          <p:cNvPr id="4" name="TextBox 3"/>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バスに乗るか、乗らないか</a:t>
            </a:r>
          </a:p>
        </p:txBody>
      </p:sp>
      <p:sp>
        <p:nvSpPr>
          <p:cNvPr id="5" name="Rectangle 4"/>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4208"/>
            <a:ext cx="10515600" cy="749808"/>
          </a:xfrm>
          <a:prstGeom prst="rect">
            <a:avLst/>
          </a:prstGeom>
          <a:noFill/>
        </p:spPr>
        <p:txBody>
          <a:bodyPr wrap="square">
            <a:spAutoFit/>
          </a:bodyPr>
          <a:lstStyle/>
          <a:p>
            <a:pPr algn="l"/>
            <a:r>
              <a:rPr sz="1800" b="0" i="0">
                <a:solidFill>
                  <a:srgbClr val="1E1E1E"/>
                </a:solidFill>
              </a:rPr>
              <a:t>スタートアップに関わるすべての人間は、原則フルタイムでなければならない。コンサルタント・パートタイム・遠隔地勤務は、利害や温度感のずれを生みやすく、長期価値の創出に向けた一致が崩れる。</a:t>
            </a:r>
          </a:p>
        </p:txBody>
      </p:sp>
      <p:sp>
        <p:nvSpPr>
          <p:cNvPr id="7" name="TextBox 6"/>
          <p:cNvSpPr txBox="1"/>
          <p:nvPr/>
        </p:nvSpPr>
        <p:spPr>
          <a:xfrm>
            <a:off x="640080" y="2487168"/>
            <a:ext cx="10515600" cy="548640"/>
          </a:xfrm>
          <a:prstGeom prst="rect">
            <a:avLst/>
          </a:prstGeom>
          <a:noFill/>
        </p:spPr>
        <p:txBody>
          <a:bodyPr wrap="square">
            <a:spAutoFit/>
          </a:bodyPr>
          <a:lstStyle/>
          <a:p>
            <a:pPr algn="l"/>
            <a:r>
              <a:rPr sz="1800" b="0" i="0">
                <a:solidFill>
                  <a:srgbClr val="1E1E1E"/>
                </a:solidFill>
              </a:rPr>
              <a:t>• ストックオプションを持たない人、固定給だけの人とは基本的に利害が一致しない</a:t>
            </a:r>
          </a:p>
        </p:txBody>
      </p:sp>
      <p:sp>
        <p:nvSpPr>
          <p:cNvPr id="8" name="TextBox 7"/>
          <p:cNvSpPr txBox="1"/>
          <p:nvPr/>
        </p:nvSpPr>
        <p:spPr>
          <a:xfrm>
            <a:off x="640080" y="2944368"/>
            <a:ext cx="10515600" cy="548640"/>
          </a:xfrm>
          <a:prstGeom prst="rect">
            <a:avLst/>
          </a:prstGeom>
          <a:noFill/>
        </p:spPr>
        <p:txBody>
          <a:bodyPr wrap="square">
            <a:spAutoFit/>
          </a:bodyPr>
          <a:lstStyle/>
          <a:p>
            <a:pPr algn="l"/>
            <a:r>
              <a:rPr sz="1800" b="0" i="0">
                <a:solidFill>
                  <a:srgbClr val="1E1E1E"/>
                </a:solidFill>
              </a:rPr>
              <a:t>• 毎日同じ場所で一緒に働いていなければ、不一致が生まれやすくなる</a:t>
            </a:r>
          </a:p>
        </p:txBody>
      </p:sp>
      <p:sp>
        <p:nvSpPr>
          <p:cNvPr id="9" name="TextBox 8"/>
          <p:cNvSpPr txBox="1"/>
          <p:nvPr/>
        </p:nvSpPr>
        <p:spPr>
          <a:xfrm>
            <a:off x="640080" y="3401568"/>
            <a:ext cx="10515600" cy="548640"/>
          </a:xfrm>
          <a:prstGeom prst="rect">
            <a:avLst/>
          </a:prstGeom>
          <a:noFill/>
        </p:spPr>
        <p:txBody>
          <a:bodyPr wrap="square">
            <a:spAutoFit/>
          </a:bodyPr>
          <a:lstStyle/>
          <a:p>
            <a:pPr algn="l"/>
            <a:r>
              <a:rPr sz="1800" b="0" i="0">
                <a:solidFill>
                  <a:srgbClr val="1E1E1E"/>
                </a:solidFill>
              </a:rPr>
              <a:t>• 例外は弁護士・会計士など外部専門家だけ</a:t>
            </a:r>
          </a:p>
        </p:txBody>
      </p:sp>
      <p:sp>
        <p:nvSpPr>
          <p:cNvPr id="10" name="Rectangle 9"/>
          <p:cNvSpPr/>
          <p:nvPr/>
        </p:nvSpPr>
        <p:spPr>
          <a:xfrm>
            <a:off x="640080" y="3886200"/>
            <a:ext cx="10607040" cy="640080"/>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77639"/>
            <a:ext cx="10058400" cy="475488"/>
          </a:xfrm>
          <a:prstGeom prst="rect">
            <a:avLst/>
          </a:prstGeom>
          <a:noFill/>
        </p:spPr>
        <p:txBody>
          <a:bodyPr wrap="square">
            <a:spAutoFit/>
          </a:bodyPr>
          <a:lstStyle/>
          <a:p>
            <a:pPr algn="l"/>
            <a:r>
              <a:rPr sz="1900" b="0" i="1">
                <a:solidFill>
                  <a:srgbClr val="1E1E1E"/>
                </a:solidFill>
              </a:rPr>
              <a:t>ケン・キージー「バスに乗るか、乗らないかのどちらかしかない」</a:t>
            </a:r>
          </a:p>
        </p:txBody>
      </p:sp>
      <p:sp>
        <p:nvSpPr>
          <p:cNvPr id="12" name="TextBox 11"/>
          <p:cNvSpPr txBox="1"/>
          <p:nvPr/>
        </p:nvSpPr>
        <p:spPr>
          <a:xfrm>
            <a:off x="640080" y="4663440"/>
            <a:ext cx="10515600" cy="658368"/>
          </a:xfrm>
          <a:prstGeom prst="rect">
            <a:avLst/>
          </a:prstGeom>
          <a:noFill/>
        </p:spPr>
        <p:txBody>
          <a:bodyPr wrap="square">
            <a:spAutoFit/>
          </a:bodyPr>
          <a:lstStyle/>
          <a:p>
            <a:pPr algn="l"/>
            <a:r>
              <a:rPr sz="1800" b="1" i="0">
                <a:solidFill>
                  <a:srgbClr val="1A2E5C"/>
                </a:solidFill>
              </a:rPr>
              <a:t>中途半端な関与は、コミットしているように見えて利害が外を向いている。
誰かを雇うなら、フルタイムか、雇わないかの二者択一でなければならない。</a:t>
            </a:r>
          </a:p>
        </p:txBody>
      </p:sp>
      <p:sp>
        <p:nvSpPr>
          <p:cNvPr id="13" name="Rectangle 12"/>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10972800" cy="438912"/>
          </a:xfrm>
          <a:prstGeom prst="rect">
            <a:avLst/>
          </a:prstGeom>
          <a:noFill/>
        </p:spPr>
        <p:txBody>
          <a:bodyPr wrap="square">
            <a:spAutoFit/>
          </a:bodyPr>
          <a:lstStyle/>
          <a:p>
            <a:pPr algn="l"/>
            <a:r>
              <a:rPr sz="1500" b="1" i="0">
                <a:solidFill>
                  <a:srgbClr val="008B8B"/>
                </a:solidFill>
              </a:rPr>
              <a:t>対話メモから — 9章を読んで</a:t>
            </a:r>
          </a:p>
        </p:txBody>
      </p:sp>
      <p:sp>
        <p:nvSpPr>
          <p:cNvPr id="4" name="TextBox 3"/>
          <p:cNvSpPr txBox="1"/>
          <p:nvPr/>
        </p:nvSpPr>
        <p:spPr>
          <a:xfrm>
            <a:off x="640080" y="621792"/>
            <a:ext cx="10972800" cy="868680"/>
          </a:xfrm>
          <a:prstGeom prst="rect">
            <a:avLst/>
          </a:prstGeom>
          <a:noFill/>
        </p:spPr>
        <p:txBody>
          <a:bodyPr wrap="square">
            <a:spAutoFit/>
          </a:bodyPr>
          <a:lstStyle/>
          <a:p>
            <a:pPr algn="l"/>
            <a:r>
              <a:rPr sz="3800" b="1" i="0">
                <a:solidFill>
                  <a:srgbClr val="1A2E5C"/>
                </a:solidFill>
              </a:rPr>
              <a:t>自分の理解と印象</a:t>
            </a:r>
          </a:p>
        </p:txBody>
      </p:sp>
      <p:sp>
        <p:nvSpPr>
          <p:cNvPr id="5" name="Rectangle 4"/>
          <p:cNvSpPr/>
          <p:nvPr/>
        </p:nvSpPr>
        <p:spPr>
          <a:xfrm>
            <a:off x="640080" y="1536192"/>
            <a:ext cx="10607040" cy="45720"/>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19072"/>
            <a:ext cx="10515600" cy="960120"/>
          </a:xfrm>
          <a:prstGeom prst="rect">
            <a:avLst/>
          </a:prstGeom>
          <a:noFill/>
        </p:spPr>
        <p:txBody>
          <a:bodyPr wrap="square">
            <a:spAutoFit/>
          </a:bodyPr>
          <a:lstStyle/>
          <a:p>
            <a:pPr algn="l"/>
            <a:r>
              <a:rPr sz="1800" b="0" i="0">
                <a:solidFill>
                  <a:srgbClr val="1E1E1E"/>
                </a:solidFill>
              </a:rPr>
              <a:t>• プロダクト・戦略だけでなく、人・制度・文化の初期設計が未来を強く規定する</a:t>
            </a:r>
          </a:p>
        </p:txBody>
      </p:sp>
      <p:sp>
        <p:nvSpPr>
          <p:cNvPr id="7" name="TextBox 6"/>
          <p:cNvSpPr txBox="1"/>
          <p:nvPr/>
        </p:nvSpPr>
        <p:spPr>
          <a:xfrm>
            <a:off x="640080" y="2587752"/>
            <a:ext cx="10515600" cy="960120"/>
          </a:xfrm>
          <a:prstGeom prst="rect">
            <a:avLst/>
          </a:prstGeom>
          <a:noFill/>
        </p:spPr>
        <p:txBody>
          <a:bodyPr wrap="square">
            <a:spAutoFit/>
          </a:bodyPr>
          <a:lstStyle/>
          <a:p>
            <a:pPr algn="l"/>
            <a:r>
              <a:rPr sz="1800" b="0" i="0">
                <a:solidFill>
                  <a:srgbClr val="1E1E1E"/>
                </a:solidFill>
              </a:rPr>
              <a:t>• 所有・経営・統治が分離すると、「名目上は所有者なのに実質の権力を誰も持てない」状態が生まれる</a:t>
            </a:r>
          </a:p>
        </p:txBody>
      </p:sp>
      <p:sp>
        <p:nvSpPr>
          <p:cNvPr id="8" name="TextBox 7"/>
          <p:cNvSpPr txBox="1"/>
          <p:nvPr/>
        </p:nvSpPr>
        <p:spPr>
          <a:xfrm>
            <a:off x="640080" y="3456432"/>
            <a:ext cx="10515600" cy="960120"/>
          </a:xfrm>
          <a:prstGeom prst="rect">
            <a:avLst/>
          </a:prstGeom>
          <a:noFill/>
        </p:spPr>
        <p:txBody>
          <a:bodyPr wrap="square">
            <a:spAutoFit/>
          </a:bodyPr>
          <a:lstStyle/>
          <a:p>
            <a:pPr algn="l"/>
            <a:r>
              <a:rPr sz="1800" b="0" i="0">
                <a:solidFill>
                  <a:srgbClr val="1E1E1E"/>
                </a:solidFill>
              </a:rPr>
              <a:t>• カルチャーとは壁のバリューではなく「何に怒るか・何に賭けるか」という集団の世界観</a:t>
            </a:r>
          </a:p>
        </p:txBody>
      </p:sp>
      <p:sp>
        <p:nvSpPr>
          <p:cNvPr id="9" name="TextBox 8"/>
          <p:cNvSpPr txBox="1"/>
          <p:nvPr/>
        </p:nvSpPr>
        <p:spPr>
          <a:xfrm>
            <a:off x="640080" y="4325112"/>
            <a:ext cx="10515600" cy="960120"/>
          </a:xfrm>
          <a:prstGeom prst="rect">
            <a:avLst/>
          </a:prstGeom>
          <a:noFill/>
        </p:spPr>
        <p:txBody>
          <a:bodyPr wrap="square">
            <a:spAutoFit/>
          </a:bodyPr>
          <a:lstStyle/>
          <a:p>
            <a:pPr algn="l"/>
            <a:r>
              <a:rPr sz="1800" b="0" i="0">
                <a:solidFill>
                  <a:srgbClr val="1E1E1E"/>
                </a:solidFill>
              </a:rPr>
              <a:t>• disagree and commit が成立するのは、上位の理念を信頼しているからこそ</a:t>
            </a:r>
          </a:p>
        </p:txBody>
      </p:sp>
      <p:sp>
        <p:nvSpPr>
          <p:cNvPr id="10" name="TextBox 9"/>
          <p:cNvSpPr txBox="1"/>
          <p:nvPr/>
        </p:nvSpPr>
        <p:spPr>
          <a:xfrm>
            <a:off x="640080" y="5193792"/>
            <a:ext cx="10515600" cy="960120"/>
          </a:xfrm>
          <a:prstGeom prst="rect">
            <a:avLst/>
          </a:prstGeom>
          <a:noFill/>
        </p:spPr>
        <p:txBody>
          <a:bodyPr wrap="square">
            <a:spAutoFit/>
          </a:bodyPr>
          <a:lstStyle/>
          <a:p>
            <a:pPr algn="l"/>
            <a:r>
              <a:rPr sz="1800" b="0" i="0">
                <a:solidFill>
                  <a:srgbClr val="1E1E1E"/>
                </a:solidFill>
              </a:rPr>
              <a:t>• 会社の人が主語を持って没頭できる状態を作ること——そこに自分の役割を感じた</a:t>
            </a:r>
          </a:p>
        </p:txBody>
      </p:sp>
      <p:sp>
        <p:nvSpPr>
          <p:cNvPr id="11" name="Rectangle 10"/>
          <p:cNvSpPr/>
          <p:nvPr/>
        </p:nvSpPr>
        <p:spPr>
          <a:xfrm>
            <a:off x="0" y="6675120"/>
            <a:ext cx="12188952" cy="182880"/>
          </a:xfrm>
          <a:prstGeom prst="rect">
            <a:avLst/>
          </a:prstGeom>
          <a:solidFill>
            <a:srgbClr val="1A2E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